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2"/>
  </p:sldMasterIdLst>
  <p:notesMasterIdLst>
    <p:notesMasterId r:id="rId23"/>
  </p:notesMasterIdLst>
  <p:sldIdLst>
    <p:sldId id="266" r:id="rId3"/>
    <p:sldId id="257" r:id="rId4"/>
    <p:sldId id="286" r:id="rId5"/>
    <p:sldId id="259" r:id="rId6"/>
    <p:sldId id="268" r:id="rId7"/>
    <p:sldId id="269" r:id="rId8"/>
    <p:sldId id="262" r:id="rId9"/>
    <p:sldId id="283" r:id="rId10"/>
    <p:sldId id="277" r:id="rId11"/>
    <p:sldId id="282" r:id="rId12"/>
    <p:sldId id="272" r:id="rId13"/>
    <p:sldId id="274" r:id="rId14"/>
    <p:sldId id="276" r:id="rId15"/>
    <p:sldId id="278" r:id="rId16"/>
    <p:sldId id="280" r:id="rId17"/>
    <p:sldId id="275" r:id="rId18"/>
    <p:sldId id="281" r:id="rId19"/>
    <p:sldId id="271" r:id="rId20"/>
    <p:sldId id="279" r:id="rId21"/>
    <p:sldId id="287" r:id="rId22"/>
  </p:sldIdLst>
  <p:sldSz cx="14630400" cy="8229600"/>
  <p:notesSz cx="8229600" cy="14630400"/>
  <p:embeddedFontLst>
    <p:embeddedFont>
      <p:font typeface="DM Sans" pitchFamily="2" charset="0"/>
      <p:regular r:id="rId24"/>
      <p:bold r:id="rId25"/>
      <p:italic r:id="rId26"/>
      <p:boldItalic r:id="rId27"/>
    </p:embeddedFont>
    <p:embeddedFont>
      <p:font typeface="Libre Baskerville" panose="02000000000000000000" pitchFamily="2" charset="0"/>
      <p:regular r:id="rId28"/>
      <p:bold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761" autoAdjust="0"/>
  </p:normalViewPr>
  <p:slideViewPr>
    <p:cSldViewPr snapToGrid="0" snapToObjects="1">
      <p:cViewPr varScale="1">
        <p:scale>
          <a:sx n="44" d="100"/>
          <a:sy n="44" d="100"/>
        </p:scale>
        <p:origin x="3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5008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B4834-0103-81B4-2155-B2338F560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4B68B-E4F3-EB62-5F22-9654539E2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997EF-06A8-7A8D-2412-79607E8401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BA2BD2-E437-4CB9-4F3A-AC3066DC722E}"/>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371463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Key Takeaway:</a:t>
            </a:r>
            <a:br>
              <a:rPr lang="en-US" dirty="0"/>
            </a:br>
            <a:r>
              <a:rPr lang="en-US" dirty="0"/>
              <a:t>The COVID-19 pandemic drove exceptional parcel volume growth, dominated by high-value established customers, while a small number of low-volume new entrants emerged, suggesting opportunities for targeted engagement and revenue optimization.</a:t>
            </a:r>
            <a:endParaRPr lang="en-US" sz="1200" dirty="0">
              <a:solidFill>
                <a:srgbClr val="002060"/>
              </a:solidFill>
              <a:latin typeface="DM Sans" pitchFamily="34" charset="0"/>
              <a:ea typeface="DM Sans" pitchFamily="34" charset="-122"/>
              <a:cs typeface="DM Sans"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latin typeface="DM Sans" pitchFamily="34" charset="0"/>
                <a:ea typeface="DM Sans" pitchFamily="34" charset="-122"/>
                <a:cs typeface="DM Sans" pitchFamily="34" charset="-120"/>
              </a:rPr>
              <a:t>1046 customer base in 2020, from which 56% of the customers were high growth accounts, 7% stable accounts, 36% declining accounts and 1% lost accounts during the pandemic.  </a:t>
            </a:r>
            <a:endParaRPr lang="en-US" sz="1200" dirty="0">
              <a:solidFill>
                <a:srgbClr val="002060"/>
              </a:solidFill>
            </a:endParaRPr>
          </a:p>
          <a:p>
            <a:endParaRPr lang="en-US" dirty="0"/>
          </a:p>
        </p:txBody>
      </p:sp>
    </p:spTree>
    <p:extLst>
      <p:ext uri="{BB962C8B-B14F-4D97-AF65-F5344CB8AC3E}">
        <p14:creationId xmlns:p14="http://schemas.microsoft.com/office/powerpoint/2010/main" val="1350666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2060"/>
                </a:solidFill>
                <a:latin typeface="DM Sans" pitchFamily="2" charset="0"/>
              </a:rPr>
              <a:t>Comparing 2020 with 2029 same periods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002060"/>
              </a:solidFill>
              <a:latin typeface="Libre Baskerville" pitchFamily="34" charset="0"/>
              <a:ea typeface="Libre Baskerville" pitchFamily="34" charset="-122"/>
              <a:cs typeface="Libre Baskerville"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2060"/>
                </a:solidFill>
                <a:latin typeface="Libre Baskerville" pitchFamily="34" charset="0"/>
                <a:ea typeface="Libre Baskerville" pitchFamily="34" charset="-122"/>
                <a:cs typeface="Libre Baskerville" pitchFamily="34" charset="-120"/>
              </a:rPr>
              <a:t>Key Inflection Point : </a:t>
            </a:r>
            <a:r>
              <a:rPr lang="en-US" sz="1200" dirty="0">
                <a:solidFill>
                  <a:srgbClr val="002060"/>
                </a:solidFill>
                <a:latin typeface="DM Sans" pitchFamily="34" charset="0"/>
                <a:ea typeface="DM Sans" pitchFamily="34" charset="-122"/>
                <a:cs typeface="DM Sans" pitchFamily="34" charset="-120"/>
              </a:rPr>
              <a:t>The shift began abruptly after  Week 11, 2020, driven by the WHO pandemic declaration and subsequent work-from-home mandates.</a:t>
            </a:r>
            <a:endParaRPr lang="en-US" sz="1200" dirty="0">
              <a:solidFill>
                <a:srgbClr val="002060"/>
              </a:solidFill>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rgbClr val="002060"/>
                </a:solidFill>
                <a:latin typeface="DM Sans" pitchFamily="34" charset="0"/>
              </a:rPr>
              <a:t>COVID drove accelerated e-commerce activity, resulting in above-normal growth compared to ISGR (11.40%).</a:t>
            </a:r>
          </a:p>
          <a:p>
            <a:endParaRPr lang="en-US" dirty="0"/>
          </a:p>
        </p:txBody>
      </p:sp>
    </p:spTree>
    <p:extLst>
      <p:ext uri="{BB962C8B-B14F-4D97-AF65-F5344CB8AC3E}">
        <p14:creationId xmlns:p14="http://schemas.microsoft.com/office/powerpoint/2010/main" val="3632083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B7919-9161-2A64-21EF-F730EC5D8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7A19A-353B-066B-4EC1-8EC94E0E1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D443A-B886-05E0-907B-28155DB75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E334B1-6A10-CCD2-906F-09958F4FE45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39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1C36F-15EE-993D-3ECE-100EA9300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74F2B-2237-FA30-71AE-A8A41CDA9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180A8F-29F5-F5C9-DB57-04BAC4926A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2BD30C-B877-5F25-E3E5-CBC6D0EB9E0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5587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97280" y="2551176"/>
            <a:ext cx="12435840" cy="480131"/>
          </a:xfrm>
          <a:prstGeom prst="rect">
            <a:avLst/>
          </a:prstGeom>
        </p:spPr>
        <p:txBody>
          <a:bodyPr wrap="square" lIns="0" tIns="0" rIns="0" bIns="0">
            <a:spAutoFit/>
          </a:bodyPr>
          <a:lstStyle>
            <a:lvl1pPr>
              <a:defRPr sz="3120" b="1" i="0">
                <a:solidFill>
                  <a:srgbClr val="00784A"/>
                </a:solidFill>
                <a:latin typeface="Calibri"/>
                <a:cs typeface="Calibri"/>
              </a:defRPr>
            </a:lvl1pPr>
          </a:lstStyle>
          <a:p>
            <a:endParaRPr/>
          </a:p>
        </p:txBody>
      </p:sp>
      <p:sp>
        <p:nvSpPr>
          <p:cNvPr id="3" name="Holder 3"/>
          <p:cNvSpPr>
            <a:spLocks noGrp="1"/>
          </p:cNvSpPr>
          <p:nvPr>
            <p:ph type="subTitle" idx="4"/>
          </p:nvPr>
        </p:nvSpPr>
        <p:spPr>
          <a:xfrm>
            <a:off x="2194560" y="4608576"/>
            <a:ext cx="10241280"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30346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64052" y="192482"/>
            <a:ext cx="9182861" cy="480131"/>
          </a:xfrm>
        </p:spPr>
        <p:txBody>
          <a:bodyPr lIns="0" tIns="0" rIns="0" bIns="0"/>
          <a:lstStyle>
            <a:lvl1pPr>
              <a:defRPr sz="3120" b="1" i="0">
                <a:solidFill>
                  <a:srgbClr val="00784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84574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64052" y="192482"/>
            <a:ext cx="9182861" cy="480131"/>
          </a:xfrm>
        </p:spPr>
        <p:txBody>
          <a:bodyPr lIns="0" tIns="0" rIns="0" bIns="0"/>
          <a:lstStyle>
            <a:lvl1pPr>
              <a:defRPr sz="3120" b="1" i="0">
                <a:solidFill>
                  <a:srgbClr val="00784A"/>
                </a:solidFill>
                <a:latin typeface="Calibri"/>
                <a:cs typeface="Calibri"/>
              </a:defRPr>
            </a:lvl1pPr>
          </a:lstStyle>
          <a:p>
            <a:endParaRPr/>
          </a:p>
        </p:txBody>
      </p:sp>
      <p:sp>
        <p:nvSpPr>
          <p:cNvPr id="3" name="Holder 3"/>
          <p:cNvSpPr>
            <a:spLocks noGrp="1"/>
          </p:cNvSpPr>
          <p:nvPr>
            <p:ph sz="half" idx="2"/>
          </p:nvPr>
        </p:nvSpPr>
        <p:spPr>
          <a:xfrm>
            <a:off x="731520" y="1892808"/>
            <a:ext cx="636422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534656" y="1892808"/>
            <a:ext cx="636422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94954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4052" y="192482"/>
            <a:ext cx="9182861" cy="480131"/>
          </a:xfrm>
        </p:spPr>
        <p:txBody>
          <a:bodyPr lIns="0" tIns="0" rIns="0" bIns="0"/>
          <a:lstStyle>
            <a:lvl1pPr>
              <a:defRPr sz="3120" b="1" i="0">
                <a:solidFill>
                  <a:srgbClr val="00784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494149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2750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287899"/>
            <a:ext cx="106680" cy="393954"/>
          </a:xfrm>
          <a:custGeom>
            <a:avLst/>
            <a:gdLst/>
            <a:ahLst/>
            <a:cxnLst/>
            <a:rect l="l" t="t" r="r" b="b"/>
            <a:pathLst>
              <a:path w="88900" h="328295">
                <a:moveTo>
                  <a:pt x="88779" y="0"/>
                </a:moveTo>
                <a:lnTo>
                  <a:pt x="0" y="0"/>
                </a:lnTo>
                <a:lnTo>
                  <a:pt x="0" y="328282"/>
                </a:lnTo>
                <a:lnTo>
                  <a:pt x="88779" y="328282"/>
                </a:lnTo>
                <a:lnTo>
                  <a:pt x="88779" y="0"/>
                </a:lnTo>
                <a:close/>
              </a:path>
            </a:pathLst>
          </a:custGeom>
          <a:solidFill>
            <a:srgbClr val="A6A6A6"/>
          </a:solidFill>
        </p:spPr>
        <p:txBody>
          <a:bodyPr wrap="square" lIns="0" tIns="0" rIns="0" bIns="0" rtlCol="0"/>
          <a:lstStyle/>
          <a:p>
            <a:endParaRPr sz="2160"/>
          </a:p>
        </p:txBody>
      </p:sp>
      <p:sp>
        <p:nvSpPr>
          <p:cNvPr id="2" name="Holder 2"/>
          <p:cNvSpPr>
            <a:spLocks noGrp="1"/>
          </p:cNvSpPr>
          <p:nvPr>
            <p:ph type="title"/>
          </p:nvPr>
        </p:nvSpPr>
        <p:spPr>
          <a:xfrm>
            <a:off x="364052" y="192482"/>
            <a:ext cx="9182861" cy="400110"/>
          </a:xfrm>
          <a:prstGeom prst="rect">
            <a:avLst/>
          </a:prstGeom>
        </p:spPr>
        <p:txBody>
          <a:bodyPr wrap="square" lIns="0" tIns="0" rIns="0" bIns="0">
            <a:spAutoFit/>
          </a:bodyPr>
          <a:lstStyle>
            <a:lvl1pPr>
              <a:defRPr sz="2600" b="1" i="0">
                <a:solidFill>
                  <a:srgbClr val="00784A"/>
                </a:solidFill>
                <a:latin typeface="Calibri"/>
                <a:cs typeface="Calibri"/>
              </a:defRPr>
            </a:lvl1pPr>
          </a:lstStyle>
          <a:p>
            <a:endParaRPr/>
          </a:p>
        </p:txBody>
      </p:sp>
      <p:sp>
        <p:nvSpPr>
          <p:cNvPr id="3" name="Holder 3"/>
          <p:cNvSpPr>
            <a:spLocks noGrp="1"/>
          </p:cNvSpPr>
          <p:nvPr>
            <p:ph type="body" idx="1"/>
          </p:nvPr>
        </p:nvSpPr>
        <p:spPr>
          <a:xfrm>
            <a:off x="155134" y="3491447"/>
            <a:ext cx="12771882"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974336" y="7653528"/>
            <a:ext cx="4681728"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12/11/2025</a:t>
            </a:fld>
            <a:endParaRPr lang="en-US"/>
          </a:p>
        </p:txBody>
      </p:sp>
      <p:sp>
        <p:nvSpPr>
          <p:cNvPr id="6" name="Holder 6"/>
          <p:cNvSpPr>
            <a:spLocks noGrp="1"/>
          </p:cNvSpPr>
          <p:nvPr>
            <p:ph type="sldNum" sz="quarter" idx="7"/>
          </p:nvPr>
        </p:nvSpPr>
        <p:spPr>
          <a:xfrm>
            <a:off x="10533888" y="7653528"/>
            <a:ext cx="3364992"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368045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548640">
        <a:defRPr>
          <a:latin typeface="+mn-lt"/>
          <a:ea typeface="+mn-ea"/>
          <a:cs typeface="+mn-cs"/>
        </a:defRPr>
      </a:lvl2pPr>
      <a:lvl3pPr marL="1097280">
        <a:defRPr>
          <a:latin typeface="+mn-lt"/>
          <a:ea typeface="+mn-ea"/>
          <a:cs typeface="+mn-cs"/>
        </a:defRPr>
      </a:lvl3pPr>
      <a:lvl4pPr marL="1645920">
        <a:defRPr>
          <a:latin typeface="+mn-lt"/>
          <a:ea typeface="+mn-ea"/>
          <a:cs typeface="+mn-cs"/>
        </a:defRPr>
      </a:lvl4pPr>
      <a:lvl5pPr marL="2194560">
        <a:defRPr>
          <a:latin typeface="+mn-lt"/>
          <a:ea typeface="+mn-ea"/>
          <a:cs typeface="+mn-cs"/>
        </a:defRPr>
      </a:lvl5pPr>
      <a:lvl6pPr marL="2743200">
        <a:defRPr>
          <a:latin typeface="+mn-lt"/>
          <a:ea typeface="+mn-ea"/>
          <a:cs typeface="+mn-cs"/>
        </a:defRPr>
      </a:lvl6pPr>
      <a:lvl7pPr marL="3291840">
        <a:defRPr>
          <a:latin typeface="+mn-lt"/>
          <a:ea typeface="+mn-ea"/>
          <a:cs typeface="+mn-cs"/>
        </a:defRPr>
      </a:lvl7pPr>
      <a:lvl8pPr marL="3840480">
        <a:defRPr>
          <a:latin typeface="+mn-lt"/>
          <a:ea typeface="+mn-ea"/>
          <a:cs typeface="+mn-cs"/>
        </a:defRPr>
      </a:lvl8pPr>
      <a:lvl9pPr marL="4389120">
        <a:defRPr>
          <a:latin typeface="+mn-lt"/>
          <a:ea typeface="+mn-ea"/>
          <a:cs typeface="+mn-cs"/>
        </a:defRPr>
      </a:lvl9pPr>
    </p:bodyStyle>
    <p:otherStyle>
      <a:lvl1pPr marL="0">
        <a:defRPr>
          <a:latin typeface="+mn-lt"/>
          <a:ea typeface="+mn-ea"/>
          <a:cs typeface="+mn-cs"/>
        </a:defRPr>
      </a:lvl1pPr>
      <a:lvl2pPr marL="548640">
        <a:defRPr>
          <a:latin typeface="+mn-lt"/>
          <a:ea typeface="+mn-ea"/>
          <a:cs typeface="+mn-cs"/>
        </a:defRPr>
      </a:lvl2pPr>
      <a:lvl3pPr marL="1097280">
        <a:defRPr>
          <a:latin typeface="+mn-lt"/>
          <a:ea typeface="+mn-ea"/>
          <a:cs typeface="+mn-cs"/>
        </a:defRPr>
      </a:lvl3pPr>
      <a:lvl4pPr marL="1645920">
        <a:defRPr>
          <a:latin typeface="+mn-lt"/>
          <a:ea typeface="+mn-ea"/>
          <a:cs typeface="+mn-cs"/>
        </a:defRPr>
      </a:lvl4pPr>
      <a:lvl5pPr marL="2194560">
        <a:defRPr>
          <a:latin typeface="+mn-lt"/>
          <a:ea typeface="+mn-ea"/>
          <a:cs typeface="+mn-cs"/>
        </a:defRPr>
      </a:lvl5pPr>
      <a:lvl6pPr marL="2743200">
        <a:defRPr>
          <a:latin typeface="+mn-lt"/>
          <a:ea typeface="+mn-ea"/>
          <a:cs typeface="+mn-cs"/>
        </a:defRPr>
      </a:lvl6pPr>
      <a:lvl7pPr marL="3291840">
        <a:defRPr>
          <a:latin typeface="+mn-lt"/>
          <a:ea typeface="+mn-ea"/>
          <a:cs typeface="+mn-cs"/>
        </a:defRPr>
      </a:lvl7pPr>
      <a:lvl8pPr marL="3840480">
        <a:defRPr>
          <a:latin typeface="+mn-lt"/>
          <a:ea typeface="+mn-ea"/>
          <a:cs typeface="+mn-cs"/>
        </a:defRPr>
      </a:lvl8pPr>
      <a:lvl9pPr marL="438912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tint val="93000"/>
                <a:satMod val="150000"/>
                <a:shade val="98000"/>
                <a:lumMod val="102000"/>
              </a:schemeClr>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A64BE4FF-7770-E2F6-5655-F9EF4E489D8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B5EA324-4C17-DCBE-2E4B-D955A5987582}"/>
              </a:ext>
            </a:extLst>
          </p:cNvPr>
          <p:cNvSpPr/>
          <p:nvPr/>
        </p:nvSpPr>
        <p:spPr>
          <a:xfrm>
            <a:off x="742708" y="3849149"/>
            <a:ext cx="12392526" cy="2695073"/>
          </a:xfrm>
          <a:prstGeom prst="rect">
            <a:avLst/>
          </a:prstGeom>
          <a:noFill/>
          <a:ln/>
        </p:spPr>
        <p:txBody>
          <a:bodyPr wrap="square" lIns="0" tIns="0" rIns="0" bIns="0" rtlCol="0" anchor="t"/>
          <a:lstStyle/>
          <a:p>
            <a:pPr marL="0" indent="0" algn="ctr">
              <a:buNone/>
            </a:pPr>
            <a:r>
              <a:rPr lang="en-US" sz="5400" b="1" dirty="0">
                <a:solidFill>
                  <a:srgbClr val="002060"/>
                </a:solidFill>
                <a:latin typeface="Libre Baskerville" pitchFamily="34" charset="0"/>
                <a:ea typeface="Libre Baskerville" pitchFamily="34" charset="-122"/>
                <a:cs typeface="Libre Baskerville" pitchFamily="34" charset="-120"/>
              </a:rPr>
              <a:t>The COVID-19 Impact on ABC Company’s Parcel Delivery Business</a:t>
            </a:r>
            <a:endParaRPr lang="en-US" sz="5400" b="1" dirty="0">
              <a:solidFill>
                <a:srgbClr val="002060"/>
              </a:solidFill>
            </a:endParaRPr>
          </a:p>
        </p:txBody>
      </p:sp>
      <p:pic>
        <p:nvPicPr>
          <p:cNvPr id="5" name="Picture 4">
            <a:extLst>
              <a:ext uri="{FF2B5EF4-FFF2-40B4-BE49-F238E27FC236}">
                <a16:creationId xmlns:a16="http://schemas.microsoft.com/office/drawing/2014/main" id="{4F1113EB-42CD-BB00-39FF-16A1B47DA9B8}"/>
              </a:ext>
            </a:extLst>
          </p:cNvPr>
          <p:cNvPicPr>
            <a:picLocks noChangeAspect="1"/>
          </p:cNvPicPr>
          <p:nvPr/>
        </p:nvPicPr>
        <p:blipFill>
          <a:blip r:embed="rId3"/>
          <a:stretch>
            <a:fillRect/>
          </a:stretch>
        </p:blipFill>
        <p:spPr>
          <a:xfrm>
            <a:off x="7888138" y="44877"/>
            <a:ext cx="6729905" cy="2550694"/>
          </a:xfrm>
          <a:prstGeom prst="rect">
            <a:avLst/>
          </a:prstGeom>
        </p:spPr>
      </p:pic>
      <p:sp>
        <p:nvSpPr>
          <p:cNvPr id="2" name="Text 3">
            <a:extLst>
              <a:ext uri="{FF2B5EF4-FFF2-40B4-BE49-F238E27FC236}">
                <a16:creationId xmlns:a16="http://schemas.microsoft.com/office/drawing/2014/main" id="{6ABCF338-347F-FD2D-8F52-A93265E6D382}"/>
              </a:ext>
            </a:extLst>
          </p:cNvPr>
          <p:cNvSpPr/>
          <p:nvPr/>
        </p:nvSpPr>
        <p:spPr>
          <a:xfrm>
            <a:off x="262449" y="7154562"/>
            <a:ext cx="3716425" cy="860420"/>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By: Evelyn George &amp; Gracious </a:t>
            </a:r>
            <a:r>
              <a:rPr lang="en-US" sz="1750" b="1" dirty="0" err="1">
                <a:solidFill>
                  <a:srgbClr val="002060"/>
                </a:solidFill>
                <a:latin typeface="DM Sans" pitchFamily="34" charset="0"/>
                <a:ea typeface="DM Sans" pitchFamily="34" charset="-122"/>
                <a:cs typeface="DM Sans" pitchFamily="34" charset="-120"/>
              </a:rPr>
              <a:t>Akokadike</a:t>
            </a:r>
            <a:endParaRPr lang="en-US" sz="1750" b="1" dirty="0">
              <a:solidFill>
                <a:srgbClr val="002060"/>
              </a:solidFill>
              <a:latin typeface="DM Sans" pitchFamily="34" charset="0"/>
              <a:ea typeface="DM Sans" pitchFamily="34" charset="-122"/>
              <a:cs typeface="DM Sans" pitchFamily="34" charset="-120"/>
            </a:endParaRPr>
          </a:p>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DATE:</a:t>
            </a:r>
            <a:r>
              <a:rPr lang="en-US" sz="1750" dirty="0">
                <a:solidFill>
                  <a:srgbClr val="002060"/>
                </a:solidFill>
                <a:latin typeface="DM Sans" pitchFamily="34" charset="0"/>
                <a:ea typeface="DM Sans" pitchFamily="34" charset="-122"/>
                <a:cs typeface="DM Sans" pitchFamily="34" charset="-120"/>
              </a:rPr>
              <a:t> Dec 2025</a:t>
            </a:r>
            <a:endParaRPr lang="en-US" sz="1750" dirty="0">
              <a:solidFill>
                <a:srgbClr val="002060"/>
              </a:solidFill>
            </a:endParaRPr>
          </a:p>
        </p:txBody>
      </p:sp>
    </p:spTree>
    <p:extLst>
      <p:ext uri="{BB962C8B-B14F-4D97-AF65-F5344CB8AC3E}">
        <p14:creationId xmlns:p14="http://schemas.microsoft.com/office/powerpoint/2010/main" val="731058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863" y="230979"/>
            <a:ext cx="14030699" cy="561692"/>
          </a:xfrm>
          <a:prstGeom prst="rect">
            <a:avLst/>
          </a:prstGeom>
          <a:solidFill>
            <a:schemeClr val="bg1"/>
          </a:solidFill>
        </p:spPr>
        <p:txBody>
          <a:bodyPr vert="horz" wrap="square" lIns="0" tIns="15240" rIns="0" bIns="0" rtlCol="0">
            <a:spAutoFit/>
          </a:bodyPr>
          <a:lstStyle/>
          <a:p>
            <a:pPr marL="15240">
              <a:spcBef>
                <a:spcPts val="120"/>
              </a:spcBef>
            </a:pPr>
            <a:r>
              <a:rPr sz="3550" kern="1200" dirty="0">
                <a:solidFill>
                  <a:srgbClr val="002060"/>
                </a:solidFill>
                <a:latin typeface="Libre Baskerville" pitchFamily="34" charset="0"/>
              </a:rPr>
              <a:t>Table </a:t>
            </a:r>
            <a:r>
              <a:rPr lang="en-US" sz="3550" kern="1200" dirty="0">
                <a:solidFill>
                  <a:srgbClr val="002060"/>
                </a:solidFill>
                <a:latin typeface="Libre Baskerville" pitchFamily="34" charset="0"/>
              </a:rPr>
              <a:t>o</a:t>
            </a:r>
            <a:r>
              <a:rPr sz="3550" kern="1200" dirty="0">
                <a:solidFill>
                  <a:srgbClr val="002060"/>
                </a:solidFill>
                <a:latin typeface="Libre Baskerville" pitchFamily="34" charset="0"/>
              </a:rPr>
              <a:t>f Contents</a:t>
            </a:r>
          </a:p>
        </p:txBody>
      </p:sp>
      <p:sp>
        <p:nvSpPr>
          <p:cNvPr id="4" name="object 4"/>
          <p:cNvSpPr txBox="1"/>
          <p:nvPr/>
        </p:nvSpPr>
        <p:spPr>
          <a:xfrm>
            <a:off x="695157" y="1655695"/>
            <a:ext cx="866394" cy="493212"/>
          </a:xfrm>
          <a:prstGeom prst="rect">
            <a:avLst/>
          </a:prstGeom>
          <a:solidFill>
            <a:schemeClr val="bg1"/>
          </a:solidFill>
          <a:ln>
            <a:solidFill>
              <a:srgbClr val="002060"/>
            </a:solidFill>
          </a:ln>
        </p:spPr>
        <p:txBody>
          <a:bodyPr vert="horz" wrap="square" lIns="0" tIns="122682" rIns="0" bIns="0" rtlCol="0">
            <a:spAutoFit/>
          </a:bodyPr>
          <a:lstStyle/>
          <a:p>
            <a:pPr marL="278130" defTabSz="1097280">
              <a:spcBef>
                <a:spcPts val="966"/>
              </a:spcBef>
              <a:defRPr/>
            </a:pPr>
            <a:r>
              <a:rPr sz="2400" b="1" kern="0" spc="-30" dirty="0">
                <a:solidFill>
                  <a:srgbClr val="002060"/>
                </a:solidFill>
                <a:latin typeface="DM Sans" pitchFamily="2" charset="0"/>
                <a:cs typeface="Calibri"/>
              </a:rPr>
              <a:t>2.</a:t>
            </a:r>
            <a:endParaRPr sz="2400" kern="0">
              <a:solidFill>
                <a:srgbClr val="002060"/>
              </a:solidFill>
              <a:latin typeface="DM Sans" pitchFamily="2" charset="0"/>
              <a:cs typeface="Calibri"/>
            </a:endParaRPr>
          </a:p>
        </p:txBody>
      </p:sp>
      <p:sp>
        <p:nvSpPr>
          <p:cNvPr id="5" name="object 5"/>
          <p:cNvSpPr txBox="1"/>
          <p:nvPr/>
        </p:nvSpPr>
        <p:spPr>
          <a:xfrm>
            <a:off x="1721510" y="1655694"/>
            <a:ext cx="10816590" cy="509370"/>
          </a:xfrm>
          <a:prstGeom prst="rect">
            <a:avLst/>
          </a:prstGeom>
          <a:ln w="6350">
            <a:solidFill>
              <a:srgbClr val="000000"/>
            </a:solidFill>
          </a:ln>
        </p:spPr>
        <p:txBody>
          <a:bodyPr vert="horz" wrap="square" lIns="0" tIns="138684" rIns="0" bIns="0" rtlCol="0">
            <a:spAutoFit/>
          </a:bodyPr>
          <a:lstStyle/>
          <a:p>
            <a:pPr defTabSz="1097280">
              <a:defRPr/>
            </a:pPr>
            <a:r>
              <a:rPr lang="en-US" sz="2400" dirty="0">
                <a:solidFill>
                  <a:srgbClr val="002060"/>
                </a:solidFill>
              </a:rPr>
              <a:t>When were customer volumes first impacted by COVID-19?</a:t>
            </a:r>
            <a:endParaRPr lang="en-US" sz="2400" dirty="0">
              <a:solidFill>
                <a:srgbClr val="002060"/>
              </a:solidFill>
              <a:latin typeface="DM Sans" pitchFamily="2" charset="0"/>
            </a:endParaRPr>
          </a:p>
        </p:txBody>
      </p:sp>
      <p:sp>
        <p:nvSpPr>
          <p:cNvPr id="6" name="object 6"/>
          <p:cNvSpPr txBox="1"/>
          <p:nvPr/>
        </p:nvSpPr>
        <p:spPr>
          <a:xfrm>
            <a:off x="695157" y="908935"/>
            <a:ext cx="866394" cy="504754"/>
          </a:xfrm>
          <a:prstGeom prst="rect">
            <a:avLst/>
          </a:prstGeom>
          <a:solidFill>
            <a:schemeClr val="bg1"/>
          </a:solidFill>
          <a:ln>
            <a:solidFill>
              <a:srgbClr val="002060"/>
            </a:solidFill>
          </a:ln>
        </p:spPr>
        <p:txBody>
          <a:bodyPr vert="horz" wrap="square" lIns="0" tIns="134112" rIns="0" bIns="0" rtlCol="0">
            <a:spAutoFit/>
          </a:bodyPr>
          <a:lstStyle/>
          <a:p>
            <a:pPr marR="18288" algn="ctr" defTabSz="1097280">
              <a:spcBef>
                <a:spcPts val="1056"/>
              </a:spcBef>
              <a:defRPr/>
            </a:pPr>
            <a:r>
              <a:rPr sz="2400" b="1" kern="0" spc="-30" dirty="0">
                <a:solidFill>
                  <a:srgbClr val="002060"/>
                </a:solidFill>
                <a:latin typeface="DM Sans" pitchFamily="2" charset="0"/>
                <a:cs typeface="Calibri"/>
              </a:rPr>
              <a:t>1.</a:t>
            </a:r>
            <a:endParaRPr sz="2400" kern="0" dirty="0">
              <a:solidFill>
                <a:srgbClr val="002060"/>
              </a:solidFill>
              <a:latin typeface="DM Sans" pitchFamily="2" charset="0"/>
              <a:cs typeface="Calibri"/>
            </a:endParaRPr>
          </a:p>
        </p:txBody>
      </p:sp>
      <p:sp>
        <p:nvSpPr>
          <p:cNvPr id="7" name="object 7"/>
          <p:cNvSpPr txBox="1"/>
          <p:nvPr/>
        </p:nvSpPr>
        <p:spPr>
          <a:xfrm>
            <a:off x="1721510" y="908934"/>
            <a:ext cx="10816590" cy="483209"/>
          </a:xfrm>
          <a:prstGeom prst="rect">
            <a:avLst/>
          </a:prstGeom>
          <a:ln w="6350">
            <a:solidFill>
              <a:srgbClr val="000000"/>
            </a:solidFill>
          </a:ln>
        </p:spPr>
        <p:txBody>
          <a:bodyPr vert="horz" wrap="square" lIns="0" tIns="112776" rIns="0" bIns="0" rtlCol="0">
            <a:spAutoFit/>
          </a:bodyPr>
          <a:lstStyle/>
          <a:p>
            <a:pPr defTabSz="1097280">
              <a:defRPr/>
            </a:pPr>
            <a:r>
              <a:rPr lang="en-US" sz="2400" dirty="0">
                <a:solidFill>
                  <a:srgbClr val="002060"/>
                </a:solidFill>
                <a:latin typeface="DM Sans" pitchFamily="2" charset="0"/>
              </a:rPr>
              <a:t> Executive Summary</a:t>
            </a:r>
          </a:p>
        </p:txBody>
      </p:sp>
      <p:sp>
        <p:nvSpPr>
          <p:cNvPr id="8" name="object 8"/>
          <p:cNvSpPr txBox="1"/>
          <p:nvPr/>
        </p:nvSpPr>
        <p:spPr>
          <a:xfrm>
            <a:off x="695157" y="2413885"/>
            <a:ext cx="866394" cy="493212"/>
          </a:xfrm>
          <a:prstGeom prst="rect">
            <a:avLst/>
          </a:prstGeom>
          <a:solidFill>
            <a:schemeClr val="bg1"/>
          </a:solidFill>
          <a:ln>
            <a:solidFill>
              <a:srgbClr val="002060"/>
            </a:solidFill>
          </a:ln>
        </p:spPr>
        <p:txBody>
          <a:bodyPr vert="horz" wrap="square" lIns="0" tIns="122682" rIns="0" bIns="0" rtlCol="0">
            <a:spAutoFit/>
          </a:bodyPr>
          <a:lstStyle/>
          <a:p>
            <a:pPr marL="278130" defTabSz="1097280">
              <a:spcBef>
                <a:spcPts val="966"/>
              </a:spcBef>
              <a:defRPr/>
            </a:pPr>
            <a:r>
              <a:rPr sz="2400" b="1" kern="0" spc="-30" dirty="0">
                <a:solidFill>
                  <a:srgbClr val="002060"/>
                </a:solidFill>
                <a:latin typeface="DM Sans" pitchFamily="2" charset="0"/>
                <a:cs typeface="Calibri"/>
              </a:rPr>
              <a:t>3.</a:t>
            </a:r>
            <a:endParaRPr sz="2400" kern="0">
              <a:solidFill>
                <a:srgbClr val="002060"/>
              </a:solidFill>
              <a:latin typeface="DM Sans" pitchFamily="2" charset="0"/>
              <a:cs typeface="Calibri"/>
            </a:endParaRPr>
          </a:p>
        </p:txBody>
      </p:sp>
      <p:sp>
        <p:nvSpPr>
          <p:cNvPr id="9" name="object 9"/>
          <p:cNvSpPr txBox="1"/>
          <p:nvPr/>
        </p:nvSpPr>
        <p:spPr>
          <a:xfrm>
            <a:off x="1721510" y="2413884"/>
            <a:ext cx="10816590" cy="509370"/>
          </a:xfrm>
          <a:prstGeom prst="rect">
            <a:avLst/>
          </a:prstGeom>
          <a:ln w="6350">
            <a:solidFill>
              <a:srgbClr val="000000"/>
            </a:solidFill>
          </a:ln>
        </p:spPr>
        <p:txBody>
          <a:bodyPr vert="horz" wrap="square" lIns="0" tIns="138684" rIns="0" bIns="0" rtlCol="0">
            <a:spAutoFit/>
          </a:bodyPr>
          <a:lstStyle/>
          <a:p>
            <a:pPr defTabSz="1097280">
              <a:defRPr/>
            </a:pPr>
            <a:r>
              <a:rPr lang="en-US" sz="2400" dirty="0">
                <a:solidFill>
                  <a:srgbClr val="002060"/>
                </a:solidFill>
              </a:rPr>
              <a:t>What events within the COVID timeline may have contributed to the change?</a:t>
            </a:r>
            <a:endParaRPr lang="en-US" sz="2400" dirty="0">
              <a:solidFill>
                <a:srgbClr val="002060"/>
              </a:solidFill>
              <a:latin typeface="DM Sans" pitchFamily="2" charset="0"/>
            </a:endParaRPr>
          </a:p>
        </p:txBody>
      </p:sp>
      <p:sp>
        <p:nvSpPr>
          <p:cNvPr id="10" name="object 10"/>
          <p:cNvSpPr txBox="1"/>
          <p:nvPr/>
        </p:nvSpPr>
        <p:spPr>
          <a:xfrm>
            <a:off x="695157" y="4659429"/>
            <a:ext cx="866394" cy="493981"/>
          </a:xfrm>
          <a:prstGeom prst="rect">
            <a:avLst/>
          </a:prstGeom>
          <a:solidFill>
            <a:schemeClr val="bg1"/>
          </a:solidFill>
          <a:ln>
            <a:solidFill>
              <a:srgbClr val="002060"/>
            </a:solidFill>
          </a:ln>
        </p:spPr>
        <p:txBody>
          <a:bodyPr vert="horz" wrap="square" lIns="0" tIns="123444" rIns="0" bIns="0" rtlCol="0">
            <a:spAutoFit/>
          </a:bodyPr>
          <a:lstStyle/>
          <a:p>
            <a:pPr marL="278130" defTabSz="1097280">
              <a:spcBef>
                <a:spcPts val="972"/>
              </a:spcBef>
              <a:defRPr/>
            </a:pPr>
            <a:r>
              <a:rPr lang="en-GB" sz="2400" b="1" kern="0" spc="-30" dirty="0">
                <a:solidFill>
                  <a:srgbClr val="002060"/>
                </a:solidFill>
                <a:latin typeface="DM Sans" pitchFamily="2" charset="0"/>
                <a:cs typeface="Calibri"/>
              </a:rPr>
              <a:t>6</a:t>
            </a:r>
            <a:r>
              <a:rPr sz="2400" b="1" kern="0" spc="-30" dirty="0">
                <a:solidFill>
                  <a:srgbClr val="002060"/>
                </a:solidFill>
                <a:latin typeface="DM Sans" pitchFamily="2" charset="0"/>
                <a:cs typeface="Calibri"/>
              </a:rPr>
              <a:t>.</a:t>
            </a:r>
            <a:endParaRPr sz="2400" kern="0" dirty="0">
              <a:solidFill>
                <a:srgbClr val="002060"/>
              </a:solidFill>
              <a:latin typeface="DM Sans" pitchFamily="2" charset="0"/>
              <a:cs typeface="Calibri"/>
            </a:endParaRPr>
          </a:p>
        </p:txBody>
      </p:sp>
      <p:sp>
        <p:nvSpPr>
          <p:cNvPr id="11" name="object 11"/>
          <p:cNvSpPr txBox="1"/>
          <p:nvPr/>
        </p:nvSpPr>
        <p:spPr>
          <a:xfrm>
            <a:off x="1721510" y="4659429"/>
            <a:ext cx="10816590" cy="510140"/>
          </a:xfrm>
          <a:prstGeom prst="rect">
            <a:avLst/>
          </a:prstGeom>
          <a:ln w="6350">
            <a:solidFill>
              <a:srgbClr val="000000"/>
            </a:solidFill>
          </a:ln>
        </p:spPr>
        <p:txBody>
          <a:bodyPr vert="horz" wrap="square" lIns="0" tIns="139446" rIns="0" bIns="0" rtlCol="0">
            <a:spAutoFit/>
          </a:bodyPr>
          <a:lstStyle/>
          <a:p>
            <a:pPr defTabSz="1097280">
              <a:defRPr/>
            </a:pPr>
            <a:r>
              <a:rPr lang="en-US" sz="2400" dirty="0">
                <a:solidFill>
                  <a:srgbClr val="002060"/>
                </a:solidFill>
              </a:rPr>
              <a:t>What % of each customer group is growing, stable, or declining?</a:t>
            </a:r>
            <a:endParaRPr lang="en-US" sz="2400" dirty="0">
              <a:solidFill>
                <a:srgbClr val="002060"/>
              </a:solidFill>
              <a:latin typeface="DM Sans" pitchFamily="2" charset="0"/>
            </a:endParaRPr>
          </a:p>
        </p:txBody>
      </p:sp>
      <p:sp>
        <p:nvSpPr>
          <p:cNvPr id="12" name="object 12"/>
          <p:cNvSpPr txBox="1"/>
          <p:nvPr/>
        </p:nvSpPr>
        <p:spPr>
          <a:xfrm>
            <a:off x="695157" y="3164760"/>
            <a:ext cx="866394" cy="505523"/>
          </a:xfrm>
          <a:prstGeom prst="rect">
            <a:avLst/>
          </a:prstGeom>
          <a:solidFill>
            <a:schemeClr val="bg1"/>
          </a:solidFill>
          <a:ln>
            <a:solidFill>
              <a:srgbClr val="002060"/>
            </a:solidFill>
          </a:ln>
        </p:spPr>
        <p:txBody>
          <a:bodyPr vert="horz" wrap="square" lIns="0" tIns="134874" rIns="0" bIns="0" rtlCol="0">
            <a:spAutoFit/>
          </a:bodyPr>
          <a:lstStyle/>
          <a:p>
            <a:pPr marR="18288" algn="ctr" defTabSz="1097280">
              <a:spcBef>
                <a:spcPts val="1062"/>
              </a:spcBef>
              <a:defRPr/>
            </a:pPr>
            <a:r>
              <a:rPr sz="2400" b="1" kern="0" spc="-30" dirty="0">
                <a:solidFill>
                  <a:srgbClr val="002060"/>
                </a:solidFill>
                <a:latin typeface="DM Sans" pitchFamily="2" charset="0"/>
                <a:cs typeface="Calibri"/>
              </a:rPr>
              <a:t>4.</a:t>
            </a:r>
            <a:endParaRPr sz="2400" kern="0">
              <a:solidFill>
                <a:srgbClr val="002060"/>
              </a:solidFill>
              <a:latin typeface="DM Sans" pitchFamily="2" charset="0"/>
              <a:cs typeface="Calibri"/>
            </a:endParaRPr>
          </a:p>
        </p:txBody>
      </p:sp>
      <p:sp>
        <p:nvSpPr>
          <p:cNvPr id="13" name="object 13"/>
          <p:cNvSpPr txBox="1"/>
          <p:nvPr/>
        </p:nvSpPr>
        <p:spPr>
          <a:xfrm>
            <a:off x="1721510" y="3164760"/>
            <a:ext cx="10816590" cy="483209"/>
          </a:xfrm>
          <a:prstGeom prst="rect">
            <a:avLst/>
          </a:prstGeom>
          <a:ln w="6350">
            <a:solidFill>
              <a:srgbClr val="000000"/>
            </a:solidFill>
          </a:ln>
        </p:spPr>
        <p:txBody>
          <a:bodyPr vert="horz" wrap="square" lIns="0" tIns="112776" rIns="0" bIns="0" rtlCol="0">
            <a:spAutoFit/>
          </a:bodyPr>
          <a:lstStyle/>
          <a:p>
            <a:pPr defTabSz="1097280">
              <a:defRPr/>
            </a:pPr>
            <a:r>
              <a:rPr lang="en-US" sz="2400" dirty="0">
                <a:solidFill>
                  <a:srgbClr val="002060"/>
                </a:solidFill>
              </a:rPr>
              <a:t>How did COVID-19 impact peak season in 2020?</a:t>
            </a:r>
            <a:endParaRPr lang="en-US" sz="2400" dirty="0">
              <a:solidFill>
                <a:srgbClr val="002060"/>
              </a:solidFill>
              <a:latin typeface="DM Sans" pitchFamily="2" charset="0"/>
            </a:endParaRPr>
          </a:p>
        </p:txBody>
      </p:sp>
      <p:sp>
        <p:nvSpPr>
          <p:cNvPr id="14" name="object 14"/>
          <p:cNvSpPr txBox="1"/>
          <p:nvPr/>
        </p:nvSpPr>
        <p:spPr>
          <a:xfrm>
            <a:off x="695157" y="3885437"/>
            <a:ext cx="866394" cy="493981"/>
          </a:xfrm>
          <a:prstGeom prst="rect">
            <a:avLst/>
          </a:prstGeom>
          <a:solidFill>
            <a:schemeClr val="bg1"/>
          </a:solidFill>
          <a:ln>
            <a:solidFill>
              <a:srgbClr val="002060"/>
            </a:solidFill>
          </a:ln>
        </p:spPr>
        <p:txBody>
          <a:bodyPr vert="horz" wrap="square" lIns="0" tIns="123444" rIns="0" bIns="0" rtlCol="0">
            <a:spAutoFit/>
          </a:bodyPr>
          <a:lstStyle/>
          <a:p>
            <a:pPr marL="278130" defTabSz="1097280">
              <a:spcBef>
                <a:spcPts val="972"/>
              </a:spcBef>
              <a:defRPr/>
            </a:pPr>
            <a:r>
              <a:rPr lang="en-GB" sz="2400" b="1" kern="0" spc="-30" dirty="0">
                <a:solidFill>
                  <a:srgbClr val="002060"/>
                </a:solidFill>
                <a:latin typeface="DM Sans" pitchFamily="2" charset="0"/>
                <a:cs typeface="Calibri"/>
              </a:rPr>
              <a:t>5</a:t>
            </a:r>
            <a:r>
              <a:rPr sz="2400" b="1" kern="0" spc="-30" dirty="0">
                <a:solidFill>
                  <a:srgbClr val="002060"/>
                </a:solidFill>
                <a:latin typeface="DM Sans" pitchFamily="2" charset="0"/>
                <a:cs typeface="Calibri"/>
              </a:rPr>
              <a:t>.</a:t>
            </a:r>
            <a:endParaRPr sz="2400" kern="0" dirty="0">
              <a:solidFill>
                <a:srgbClr val="002060"/>
              </a:solidFill>
              <a:latin typeface="DM Sans" pitchFamily="2" charset="0"/>
              <a:cs typeface="Calibri"/>
            </a:endParaRPr>
          </a:p>
        </p:txBody>
      </p:sp>
      <p:sp>
        <p:nvSpPr>
          <p:cNvPr id="15" name="object 15"/>
          <p:cNvSpPr txBox="1"/>
          <p:nvPr/>
        </p:nvSpPr>
        <p:spPr>
          <a:xfrm>
            <a:off x="1721510" y="3885437"/>
            <a:ext cx="10816590" cy="509370"/>
          </a:xfrm>
          <a:prstGeom prst="rect">
            <a:avLst/>
          </a:prstGeom>
          <a:ln w="6350">
            <a:solidFill>
              <a:srgbClr val="000000"/>
            </a:solidFill>
          </a:ln>
        </p:spPr>
        <p:txBody>
          <a:bodyPr vert="horz" wrap="square" lIns="0" tIns="138684" rIns="0" bIns="0" rtlCol="0">
            <a:spAutoFit/>
          </a:bodyPr>
          <a:lstStyle/>
          <a:p>
            <a:pPr defTabSz="1097280">
              <a:defRPr/>
            </a:pPr>
            <a:r>
              <a:rPr lang="en-US" sz="2400" dirty="0">
                <a:solidFill>
                  <a:srgbClr val="002060"/>
                </a:solidFill>
              </a:rPr>
              <a:t>How has COVID affected different customer groups (Enterprise, Large, etc.)?</a:t>
            </a:r>
            <a:endParaRPr lang="en-US" sz="2400" dirty="0">
              <a:solidFill>
                <a:srgbClr val="002060"/>
              </a:solidFill>
              <a:latin typeface="DM Sans" pitchFamily="2" charset="0"/>
            </a:endParaRPr>
          </a:p>
        </p:txBody>
      </p:sp>
      <p:sp>
        <p:nvSpPr>
          <p:cNvPr id="16" name="object 16"/>
          <p:cNvSpPr txBox="1"/>
          <p:nvPr/>
        </p:nvSpPr>
        <p:spPr>
          <a:xfrm>
            <a:off x="695157" y="5433421"/>
            <a:ext cx="866394" cy="493981"/>
          </a:xfrm>
          <a:prstGeom prst="rect">
            <a:avLst/>
          </a:prstGeom>
          <a:solidFill>
            <a:schemeClr val="bg1"/>
          </a:solidFill>
          <a:ln>
            <a:solidFill>
              <a:srgbClr val="002060"/>
            </a:solidFill>
          </a:ln>
        </p:spPr>
        <p:txBody>
          <a:bodyPr vert="horz" wrap="square" lIns="0" tIns="123444" rIns="0" bIns="0" rtlCol="0">
            <a:spAutoFit/>
          </a:bodyPr>
          <a:lstStyle/>
          <a:p>
            <a:pPr marL="278130" defTabSz="1097280">
              <a:spcBef>
                <a:spcPts val="972"/>
              </a:spcBef>
              <a:defRPr/>
            </a:pPr>
            <a:r>
              <a:rPr lang="en-GB" sz="2400" b="1" kern="0" spc="-30" dirty="0">
                <a:solidFill>
                  <a:srgbClr val="002060"/>
                </a:solidFill>
                <a:latin typeface="DM Sans" pitchFamily="2" charset="0"/>
                <a:cs typeface="Calibri"/>
              </a:rPr>
              <a:t>7</a:t>
            </a:r>
            <a:r>
              <a:rPr sz="2400" b="1" kern="0" spc="-30" dirty="0">
                <a:solidFill>
                  <a:srgbClr val="002060"/>
                </a:solidFill>
                <a:latin typeface="DM Sans" pitchFamily="2" charset="0"/>
                <a:cs typeface="Calibri"/>
              </a:rPr>
              <a:t>.</a:t>
            </a:r>
            <a:endParaRPr sz="2400" kern="0" dirty="0">
              <a:solidFill>
                <a:srgbClr val="002060"/>
              </a:solidFill>
              <a:latin typeface="DM Sans" pitchFamily="2" charset="0"/>
              <a:cs typeface="Calibri"/>
            </a:endParaRPr>
          </a:p>
        </p:txBody>
      </p:sp>
      <p:sp>
        <p:nvSpPr>
          <p:cNvPr id="18" name="object 11">
            <a:extLst>
              <a:ext uri="{FF2B5EF4-FFF2-40B4-BE49-F238E27FC236}">
                <a16:creationId xmlns:a16="http://schemas.microsoft.com/office/drawing/2014/main" id="{8B122A9B-1606-77A8-62D0-3EB945FFE08C}"/>
              </a:ext>
            </a:extLst>
          </p:cNvPr>
          <p:cNvSpPr txBox="1"/>
          <p:nvPr/>
        </p:nvSpPr>
        <p:spPr>
          <a:xfrm>
            <a:off x="1721510" y="5433421"/>
            <a:ext cx="10816590" cy="510140"/>
          </a:xfrm>
          <a:prstGeom prst="rect">
            <a:avLst/>
          </a:prstGeom>
          <a:ln w="6350">
            <a:solidFill>
              <a:srgbClr val="000000"/>
            </a:solidFill>
          </a:ln>
        </p:spPr>
        <p:txBody>
          <a:bodyPr vert="horz" wrap="square" lIns="0" tIns="139446" rIns="0" bIns="0" rtlCol="0">
            <a:spAutoFit/>
          </a:bodyPr>
          <a:lstStyle/>
          <a:p>
            <a:pPr defTabSz="1097280">
              <a:defRPr/>
            </a:pPr>
            <a:r>
              <a:rPr lang="en-US" sz="2400" dirty="0">
                <a:solidFill>
                  <a:srgbClr val="002060"/>
                </a:solidFill>
              </a:rPr>
              <a:t>What % of each group are new customers during COVID?</a:t>
            </a:r>
            <a:endParaRPr lang="en-US" sz="2400" dirty="0">
              <a:solidFill>
                <a:srgbClr val="002060"/>
              </a:solidFill>
              <a:latin typeface="DM Sans" pitchFamily="2" charset="0"/>
            </a:endParaRPr>
          </a:p>
        </p:txBody>
      </p:sp>
      <p:sp>
        <p:nvSpPr>
          <p:cNvPr id="17" name="object 11">
            <a:extLst>
              <a:ext uri="{FF2B5EF4-FFF2-40B4-BE49-F238E27FC236}">
                <a16:creationId xmlns:a16="http://schemas.microsoft.com/office/drawing/2014/main" id="{4420E68F-227A-EFE1-8A77-B4F445D9F8D8}"/>
              </a:ext>
            </a:extLst>
          </p:cNvPr>
          <p:cNvSpPr txBox="1"/>
          <p:nvPr/>
        </p:nvSpPr>
        <p:spPr>
          <a:xfrm>
            <a:off x="1721510" y="6293534"/>
            <a:ext cx="10816590" cy="510140"/>
          </a:xfrm>
          <a:prstGeom prst="rect">
            <a:avLst/>
          </a:prstGeom>
          <a:ln w="6350">
            <a:solidFill>
              <a:srgbClr val="000000"/>
            </a:solidFill>
          </a:ln>
        </p:spPr>
        <p:txBody>
          <a:bodyPr vert="horz" wrap="square" lIns="0" tIns="139446" rIns="0" bIns="0" rtlCol="0">
            <a:spAutoFit/>
          </a:bodyPr>
          <a:lstStyle/>
          <a:p>
            <a:pPr defTabSz="1097280">
              <a:defRPr/>
            </a:pPr>
            <a:r>
              <a:rPr lang="en-US" sz="2400" dirty="0">
                <a:solidFill>
                  <a:srgbClr val="002060"/>
                </a:solidFill>
              </a:rPr>
              <a:t>What % of 2019 customers in each group were lost?</a:t>
            </a:r>
            <a:endParaRPr lang="en-US" sz="2400" dirty="0">
              <a:solidFill>
                <a:srgbClr val="002060"/>
              </a:solidFill>
              <a:latin typeface="DM Sans" pitchFamily="2" charset="0"/>
            </a:endParaRPr>
          </a:p>
        </p:txBody>
      </p:sp>
      <p:sp>
        <p:nvSpPr>
          <p:cNvPr id="19" name="object 11">
            <a:extLst>
              <a:ext uri="{FF2B5EF4-FFF2-40B4-BE49-F238E27FC236}">
                <a16:creationId xmlns:a16="http://schemas.microsoft.com/office/drawing/2014/main" id="{F1EB48DB-214E-AF00-720F-FBA85184E280}"/>
              </a:ext>
            </a:extLst>
          </p:cNvPr>
          <p:cNvSpPr txBox="1"/>
          <p:nvPr/>
        </p:nvSpPr>
        <p:spPr>
          <a:xfrm>
            <a:off x="1721510" y="7153647"/>
            <a:ext cx="10816590" cy="510140"/>
          </a:xfrm>
          <a:prstGeom prst="rect">
            <a:avLst/>
          </a:prstGeom>
          <a:ln w="6350">
            <a:solidFill>
              <a:srgbClr val="000000"/>
            </a:solidFill>
          </a:ln>
        </p:spPr>
        <p:txBody>
          <a:bodyPr vert="horz" wrap="square" lIns="0" tIns="139446" rIns="0" bIns="0" rtlCol="0">
            <a:spAutoFit/>
          </a:bodyPr>
          <a:lstStyle/>
          <a:p>
            <a:pPr defTabSz="1097280">
              <a:defRPr/>
            </a:pPr>
            <a:r>
              <a:rPr lang="en-US" sz="2400" dirty="0">
                <a:solidFill>
                  <a:srgbClr val="002060"/>
                </a:solidFill>
              </a:rPr>
              <a:t>What was the overall impact on volume and revenue by group?</a:t>
            </a:r>
            <a:endParaRPr lang="en-US" sz="2400" dirty="0">
              <a:solidFill>
                <a:srgbClr val="002060"/>
              </a:solidFill>
              <a:latin typeface="DM Sans" pitchFamily="2" charset="0"/>
            </a:endParaRPr>
          </a:p>
        </p:txBody>
      </p:sp>
      <p:sp>
        <p:nvSpPr>
          <p:cNvPr id="20" name="object 16">
            <a:extLst>
              <a:ext uri="{FF2B5EF4-FFF2-40B4-BE49-F238E27FC236}">
                <a16:creationId xmlns:a16="http://schemas.microsoft.com/office/drawing/2014/main" id="{29F3F710-F32B-CCFE-853A-198DAB9A23D2}"/>
              </a:ext>
            </a:extLst>
          </p:cNvPr>
          <p:cNvSpPr txBox="1"/>
          <p:nvPr/>
        </p:nvSpPr>
        <p:spPr>
          <a:xfrm>
            <a:off x="636455" y="6309693"/>
            <a:ext cx="866394" cy="493981"/>
          </a:xfrm>
          <a:prstGeom prst="rect">
            <a:avLst/>
          </a:prstGeom>
          <a:solidFill>
            <a:schemeClr val="bg1"/>
          </a:solidFill>
          <a:ln>
            <a:solidFill>
              <a:srgbClr val="002060"/>
            </a:solidFill>
          </a:ln>
        </p:spPr>
        <p:txBody>
          <a:bodyPr vert="horz" wrap="square" lIns="0" tIns="123444" rIns="0" bIns="0" rtlCol="0">
            <a:spAutoFit/>
          </a:bodyPr>
          <a:lstStyle/>
          <a:p>
            <a:pPr marL="278130" defTabSz="1097280">
              <a:spcBef>
                <a:spcPts val="972"/>
              </a:spcBef>
              <a:defRPr/>
            </a:pPr>
            <a:r>
              <a:rPr lang="en-GB" sz="2400" b="1" kern="0" spc="-30" dirty="0">
                <a:solidFill>
                  <a:srgbClr val="002060"/>
                </a:solidFill>
                <a:latin typeface="DM Sans" pitchFamily="2" charset="0"/>
                <a:cs typeface="Calibri"/>
              </a:rPr>
              <a:t>8</a:t>
            </a:r>
            <a:r>
              <a:rPr sz="2400" b="1" kern="0" spc="-30" dirty="0">
                <a:solidFill>
                  <a:srgbClr val="002060"/>
                </a:solidFill>
                <a:latin typeface="DM Sans" pitchFamily="2" charset="0"/>
                <a:cs typeface="Calibri"/>
              </a:rPr>
              <a:t>.</a:t>
            </a:r>
            <a:endParaRPr sz="2400" kern="0" dirty="0">
              <a:solidFill>
                <a:srgbClr val="002060"/>
              </a:solidFill>
              <a:latin typeface="DM Sans" pitchFamily="2" charset="0"/>
              <a:cs typeface="Calibri"/>
            </a:endParaRPr>
          </a:p>
        </p:txBody>
      </p:sp>
      <p:sp>
        <p:nvSpPr>
          <p:cNvPr id="21" name="object 16">
            <a:extLst>
              <a:ext uri="{FF2B5EF4-FFF2-40B4-BE49-F238E27FC236}">
                <a16:creationId xmlns:a16="http://schemas.microsoft.com/office/drawing/2014/main" id="{90CD821E-C46D-064F-3C91-99513C956E18}"/>
              </a:ext>
            </a:extLst>
          </p:cNvPr>
          <p:cNvSpPr txBox="1"/>
          <p:nvPr/>
        </p:nvSpPr>
        <p:spPr>
          <a:xfrm>
            <a:off x="636455" y="7177890"/>
            <a:ext cx="866394" cy="493981"/>
          </a:xfrm>
          <a:prstGeom prst="rect">
            <a:avLst/>
          </a:prstGeom>
          <a:solidFill>
            <a:schemeClr val="bg1"/>
          </a:solidFill>
          <a:ln>
            <a:solidFill>
              <a:srgbClr val="002060"/>
            </a:solidFill>
          </a:ln>
        </p:spPr>
        <p:txBody>
          <a:bodyPr vert="horz" wrap="square" lIns="0" tIns="123444" rIns="0" bIns="0" rtlCol="0">
            <a:spAutoFit/>
          </a:bodyPr>
          <a:lstStyle/>
          <a:p>
            <a:pPr marL="278130" defTabSz="1097280">
              <a:spcBef>
                <a:spcPts val="972"/>
              </a:spcBef>
              <a:defRPr/>
            </a:pPr>
            <a:r>
              <a:rPr lang="en-GB" sz="2400" b="1" kern="0" spc="-30" dirty="0">
                <a:solidFill>
                  <a:srgbClr val="002060"/>
                </a:solidFill>
                <a:latin typeface="DM Sans" pitchFamily="2" charset="0"/>
                <a:cs typeface="Calibri"/>
              </a:rPr>
              <a:t>9</a:t>
            </a:r>
            <a:r>
              <a:rPr sz="2400" b="1" kern="0" spc="-30" dirty="0">
                <a:solidFill>
                  <a:srgbClr val="002060"/>
                </a:solidFill>
                <a:latin typeface="DM Sans" pitchFamily="2" charset="0"/>
                <a:cs typeface="Calibri"/>
              </a:rPr>
              <a:t>.</a:t>
            </a:r>
            <a:endParaRPr sz="2400" kern="0" dirty="0">
              <a:solidFill>
                <a:srgbClr val="002060"/>
              </a:solidFill>
              <a:latin typeface="DM Sans" pitchFamily="2" charset="0"/>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D20305-B12A-E8CA-233A-8920326F4CC1}"/>
            </a:ext>
          </a:extLst>
        </p:cNvPr>
        <p:cNvGrpSpPr/>
        <p:nvPr/>
      </p:nvGrpSpPr>
      <p:grpSpPr>
        <a:xfrm>
          <a:off x="0" y="0"/>
          <a:ext cx="0" cy="0"/>
          <a:chOff x="0" y="0"/>
          <a:chExt cx="0" cy="0"/>
        </a:xfrm>
      </p:grpSpPr>
      <p:sp>
        <p:nvSpPr>
          <p:cNvPr id="20" name="Text 0">
            <a:extLst>
              <a:ext uri="{FF2B5EF4-FFF2-40B4-BE49-F238E27FC236}">
                <a16:creationId xmlns:a16="http://schemas.microsoft.com/office/drawing/2014/main" id="{489D208E-4489-34F8-0122-91ADB6286267}"/>
              </a:ext>
            </a:extLst>
          </p:cNvPr>
          <p:cNvSpPr/>
          <p:nvPr/>
        </p:nvSpPr>
        <p:spPr>
          <a:xfrm>
            <a:off x="290384" y="59622"/>
            <a:ext cx="14049632" cy="866258"/>
          </a:xfrm>
          <a:prstGeom prst="rect">
            <a:avLst/>
          </a:prstGeom>
          <a:solidFill>
            <a:schemeClr val="bg1"/>
          </a:solidFill>
          <a:ln/>
        </p:spPr>
        <p:txBody>
          <a:bodyPr wrap="none" lIns="0" tIns="0" rIns="0" bIns="0" rtlCol="0" anchor="ctr"/>
          <a:lstStyle/>
          <a:p>
            <a:pPr marL="0" indent="0">
              <a:lnSpc>
                <a:spcPts val="4450"/>
              </a:lnSpc>
              <a:buNone/>
            </a:pPr>
            <a:r>
              <a:rPr lang="en-US" sz="3550" b="1" dirty="0">
                <a:solidFill>
                  <a:srgbClr val="002060"/>
                </a:solidFill>
                <a:latin typeface="Libre Baskerville" pitchFamily="34" charset="0"/>
                <a:ea typeface="Libre Baskerville" pitchFamily="34" charset="-122"/>
                <a:cs typeface="Libre Baskerville" pitchFamily="34" charset="-120"/>
              </a:rPr>
              <a:t>Executive Summary </a:t>
            </a:r>
            <a:endParaRPr lang="en-US" sz="3550" b="1" dirty="0">
              <a:solidFill>
                <a:srgbClr val="002060"/>
              </a:solidFill>
            </a:endParaRPr>
          </a:p>
        </p:txBody>
      </p:sp>
      <p:sp>
        <p:nvSpPr>
          <p:cNvPr id="6" name="Text 3">
            <a:extLst>
              <a:ext uri="{FF2B5EF4-FFF2-40B4-BE49-F238E27FC236}">
                <a16:creationId xmlns:a16="http://schemas.microsoft.com/office/drawing/2014/main" id="{57A9D4AC-59ED-85FA-432A-04DAF210D46F}"/>
              </a:ext>
            </a:extLst>
          </p:cNvPr>
          <p:cNvSpPr/>
          <p:nvPr/>
        </p:nvSpPr>
        <p:spPr>
          <a:xfrm>
            <a:off x="8331201" y="1034378"/>
            <a:ext cx="6008815" cy="6845312"/>
          </a:xfrm>
          <a:prstGeom prst="rect">
            <a:avLst/>
          </a:prstGeom>
          <a:noFill/>
          <a:ln/>
          <a:effectLst>
            <a:outerShdw blurRad="50800" algn="ctr" rotWithShape="0">
              <a:schemeClr val="bg1"/>
            </a:outerShdw>
          </a:effectLst>
        </p:spPr>
        <p:txBody>
          <a:bodyPr wrap="square" lIns="0" tIns="0" rIns="0" bIns="0" rtlCol="0" anchor="t"/>
          <a:lstStyle/>
          <a:p>
            <a:pPr>
              <a:lnSpc>
                <a:spcPts val="2850"/>
              </a:lnSpc>
            </a:pPr>
            <a:r>
              <a:rPr lang="en-US" sz="2000" b="1" dirty="0">
                <a:solidFill>
                  <a:srgbClr val="002060"/>
                </a:solidFill>
                <a:latin typeface="Libre Baskerville" pitchFamily="34" charset="0"/>
                <a:ea typeface="Libre Baskerville" pitchFamily="34" charset="-122"/>
                <a:cs typeface="Libre Baskerville" pitchFamily="34" charset="-120"/>
              </a:rPr>
              <a:t>Volume Surge: </a:t>
            </a:r>
          </a:p>
          <a:p>
            <a:pPr>
              <a:lnSpc>
                <a:spcPts val="2850"/>
              </a:lnSpc>
            </a:pPr>
            <a:r>
              <a:rPr lang="en-US" sz="2000" dirty="0">
                <a:solidFill>
                  <a:srgbClr val="002060"/>
                </a:solidFill>
                <a:latin typeface="DM Sans" pitchFamily="34" charset="0"/>
              </a:rPr>
              <a:t>Total Parcel volume in 2020  37%  compared to 2019 above the growth baseline (ISGR: +11.40%).</a:t>
            </a:r>
          </a:p>
          <a:p>
            <a:pPr>
              <a:lnSpc>
                <a:spcPts val="2850"/>
              </a:lnSpc>
            </a:pPr>
            <a:endParaRPr lang="en-US" sz="2000" b="1" dirty="0">
              <a:solidFill>
                <a:srgbClr val="002060"/>
              </a:solidFill>
              <a:latin typeface="Libre Baskerville" pitchFamily="34" charset="0"/>
            </a:endParaRPr>
          </a:p>
          <a:p>
            <a:pPr>
              <a:lnSpc>
                <a:spcPts val="2850"/>
              </a:lnSpc>
            </a:pPr>
            <a:endParaRPr lang="en-US" sz="2000" b="1" dirty="0">
              <a:solidFill>
                <a:srgbClr val="002060"/>
              </a:solidFill>
              <a:latin typeface="Libre Baskerville" pitchFamily="34" charset="0"/>
            </a:endParaRPr>
          </a:p>
          <a:p>
            <a:pPr>
              <a:lnSpc>
                <a:spcPts val="2850"/>
              </a:lnSpc>
            </a:pPr>
            <a:r>
              <a:rPr lang="en-US" sz="2000" b="1" dirty="0">
                <a:solidFill>
                  <a:srgbClr val="002060"/>
                </a:solidFill>
                <a:latin typeface="Libre Baskerville" pitchFamily="34" charset="0"/>
              </a:rPr>
              <a:t>Customer Segment Health</a:t>
            </a:r>
          </a:p>
          <a:p>
            <a:r>
              <a:rPr lang="en-US" sz="2000" dirty="0">
                <a:solidFill>
                  <a:srgbClr val="002060"/>
                </a:solidFill>
                <a:latin typeface="DM Sans" pitchFamily="34" charset="0"/>
              </a:rPr>
              <a:t>Total active customers in 2020: 1,046</a:t>
            </a:r>
          </a:p>
          <a:p>
            <a:pPr marL="742950" lvl="1" indent="-285750">
              <a:buFont typeface="Arial" panose="020B0604020202020204" pitchFamily="34" charset="0"/>
              <a:buChar char="•"/>
            </a:pPr>
            <a:r>
              <a:rPr lang="en-US" sz="2000" b="1" dirty="0">
                <a:solidFill>
                  <a:srgbClr val="002060"/>
                </a:solidFill>
                <a:latin typeface="DM Sans" pitchFamily="34" charset="0"/>
              </a:rPr>
              <a:t>Enterprise: </a:t>
            </a:r>
            <a:r>
              <a:rPr lang="en-US" sz="2000" dirty="0">
                <a:solidFill>
                  <a:srgbClr val="002060"/>
                </a:solidFill>
                <a:latin typeface="DM Sans" pitchFamily="34" charset="0"/>
              </a:rPr>
              <a:t>14 (1.34% of total)</a:t>
            </a:r>
          </a:p>
          <a:p>
            <a:pPr marL="742950" lvl="1" indent="-285750">
              <a:buFont typeface="Arial" panose="020B0604020202020204" pitchFamily="34" charset="0"/>
              <a:buChar char="•"/>
            </a:pPr>
            <a:r>
              <a:rPr lang="en-US" sz="2000" b="1" dirty="0">
                <a:solidFill>
                  <a:srgbClr val="002060"/>
                </a:solidFill>
                <a:latin typeface="DM Sans" pitchFamily="34" charset="0"/>
              </a:rPr>
              <a:t>Large</a:t>
            </a:r>
            <a:r>
              <a:rPr lang="en-US" sz="2000" dirty="0">
                <a:solidFill>
                  <a:srgbClr val="002060"/>
                </a:solidFill>
                <a:latin typeface="DM Sans" pitchFamily="34" charset="0"/>
              </a:rPr>
              <a:t>: 22 (2.10% of total)</a:t>
            </a:r>
          </a:p>
          <a:p>
            <a:pPr marL="742950" lvl="1" indent="-285750">
              <a:buFont typeface="Arial" panose="020B0604020202020204" pitchFamily="34" charset="0"/>
              <a:buChar char="•"/>
            </a:pPr>
            <a:r>
              <a:rPr lang="en-US" sz="2000" b="1" dirty="0">
                <a:solidFill>
                  <a:srgbClr val="002060"/>
                </a:solidFill>
                <a:latin typeface="DM Sans" pitchFamily="34" charset="0"/>
              </a:rPr>
              <a:t>Medium: </a:t>
            </a:r>
            <a:r>
              <a:rPr lang="en-US" sz="2000" dirty="0">
                <a:solidFill>
                  <a:srgbClr val="002060"/>
                </a:solidFill>
                <a:latin typeface="DM Sans" pitchFamily="34" charset="0"/>
              </a:rPr>
              <a:t>234 (22.37% of total)</a:t>
            </a:r>
          </a:p>
          <a:p>
            <a:pPr marL="742950" lvl="1" indent="-285750">
              <a:buFont typeface="Arial" panose="020B0604020202020204" pitchFamily="34" charset="0"/>
              <a:buChar char="•"/>
            </a:pPr>
            <a:r>
              <a:rPr lang="en-US" sz="2000" b="1" dirty="0">
                <a:solidFill>
                  <a:srgbClr val="002060"/>
                </a:solidFill>
                <a:latin typeface="DM Sans" pitchFamily="34" charset="0"/>
              </a:rPr>
              <a:t>Small</a:t>
            </a:r>
            <a:r>
              <a:rPr lang="en-US" sz="2000" dirty="0">
                <a:solidFill>
                  <a:srgbClr val="002060"/>
                </a:solidFill>
                <a:latin typeface="DM Sans" pitchFamily="34" charset="0"/>
              </a:rPr>
              <a:t>: 681 (65.11% of total)</a:t>
            </a:r>
          </a:p>
          <a:p>
            <a:pPr marL="742950" lvl="1" indent="-285750">
              <a:buFont typeface="Arial" panose="020B0604020202020204" pitchFamily="34" charset="0"/>
              <a:buChar char="•"/>
            </a:pPr>
            <a:r>
              <a:rPr lang="en-US" sz="2000" b="1" dirty="0">
                <a:solidFill>
                  <a:srgbClr val="002060"/>
                </a:solidFill>
                <a:latin typeface="DM Sans" pitchFamily="34" charset="0"/>
              </a:rPr>
              <a:t>Other </a:t>
            </a:r>
            <a:r>
              <a:rPr lang="en-US" sz="2000" dirty="0">
                <a:solidFill>
                  <a:srgbClr val="002060"/>
                </a:solidFill>
                <a:latin typeface="DM Sans" pitchFamily="34" charset="0"/>
              </a:rPr>
              <a:t>/emerging accounts: 95 (9.08%) with very low parcel volumes (&lt;1,000)</a:t>
            </a:r>
          </a:p>
          <a:p>
            <a:pPr marL="285750" indent="-285750">
              <a:lnSpc>
                <a:spcPts val="2850"/>
              </a:lnSpc>
              <a:buFont typeface="Arial" panose="020B0604020202020204" pitchFamily="34" charset="0"/>
              <a:buChar char="•"/>
            </a:pPr>
            <a:endParaRPr lang="en-US" sz="2000" dirty="0">
              <a:solidFill>
                <a:srgbClr val="002060"/>
              </a:solidFill>
              <a:latin typeface="DM Sans" pitchFamily="34" charset="0"/>
              <a:ea typeface="DM Sans" pitchFamily="34" charset="-122"/>
              <a:cs typeface="DM Sans" pitchFamily="34" charset="-120"/>
            </a:endParaRPr>
          </a:p>
          <a:p>
            <a:pPr marL="285750" indent="-285750">
              <a:lnSpc>
                <a:spcPts val="2850"/>
              </a:lnSpc>
              <a:buFont typeface="Arial" panose="020B0604020202020204" pitchFamily="34" charset="0"/>
              <a:buChar char="•"/>
            </a:pPr>
            <a:endParaRPr lang="en-US" sz="2000" dirty="0">
              <a:solidFill>
                <a:srgbClr val="002060"/>
              </a:solidFill>
              <a:latin typeface="DM Sans" pitchFamily="34" charset="0"/>
              <a:ea typeface="DM Sans" pitchFamily="34" charset="-122"/>
              <a:cs typeface="DM Sans" pitchFamily="34" charset="-120"/>
            </a:endParaRPr>
          </a:p>
          <a:p>
            <a:pPr>
              <a:lnSpc>
                <a:spcPts val="2850"/>
              </a:lnSpc>
            </a:pPr>
            <a:r>
              <a:rPr lang="en-US" sz="2000" b="1" dirty="0">
                <a:solidFill>
                  <a:srgbClr val="002060"/>
                </a:solidFill>
                <a:latin typeface="Libre Baskerville" pitchFamily="34" charset="0"/>
              </a:rPr>
              <a:t>Profitability &amp; Volume Drivers</a:t>
            </a:r>
          </a:p>
          <a:p>
            <a:r>
              <a:rPr lang="en-US" sz="2000" dirty="0">
                <a:solidFill>
                  <a:srgbClr val="002060"/>
                </a:solidFill>
                <a:latin typeface="DM Sans" pitchFamily="34" charset="0"/>
              </a:rPr>
              <a:t>Enterprise and Large customers contributed the most to volume, confirming that established high-volume (Enterprise) accounts drove the majority of the parcel volume surge.</a:t>
            </a:r>
          </a:p>
          <a:p>
            <a:pPr>
              <a:lnSpc>
                <a:spcPts val="2850"/>
              </a:lnSpc>
            </a:pPr>
            <a:endParaRPr lang="en-US" sz="2000" dirty="0">
              <a:solidFill>
                <a:srgbClr val="002060"/>
              </a:solidFill>
              <a:latin typeface="DM Sans" pitchFamily="34" charset="0"/>
            </a:endParaRPr>
          </a:p>
          <a:p>
            <a:pPr>
              <a:lnSpc>
                <a:spcPts val="2850"/>
              </a:lnSpc>
            </a:pPr>
            <a:endParaRPr lang="en-US" sz="2000" dirty="0">
              <a:solidFill>
                <a:srgbClr val="002060"/>
              </a:solidFill>
              <a:latin typeface="DM Sans" pitchFamily="34" charset="0"/>
            </a:endParaRPr>
          </a:p>
        </p:txBody>
      </p:sp>
      <p:grpSp>
        <p:nvGrpSpPr>
          <p:cNvPr id="9" name="Group 8">
            <a:extLst>
              <a:ext uri="{FF2B5EF4-FFF2-40B4-BE49-F238E27FC236}">
                <a16:creationId xmlns:a16="http://schemas.microsoft.com/office/drawing/2014/main" id="{B69FB8C7-A54F-1813-28DA-080D70EF3E48}"/>
              </a:ext>
            </a:extLst>
          </p:cNvPr>
          <p:cNvGrpSpPr/>
          <p:nvPr/>
        </p:nvGrpSpPr>
        <p:grpSpPr>
          <a:xfrm>
            <a:off x="290384" y="1056508"/>
            <a:ext cx="7699429" cy="6845312"/>
            <a:chOff x="290383" y="1106948"/>
            <a:chExt cx="7699429" cy="6845312"/>
          </a:xfrm>
        </p:grpSpPr>
        <p:pic>
          <p:nvPicPr>
            <p:cNvPr id="5" name="Picture 4" descr="A screenshot of a graph&#10;&#10;AI-generated content may be incorrect.">
              <a:extLst>
                <a:ext uri="{FF2B5EF4-FFF2-40B4-BE49-F238E27FC236}">
                  <a16:creationId xmlns:a16="http://schemas.microsoft.com/office/drawing/2014/main" id="{8695196B-4087-51A8-5C6D-592008986D4F}"/>
                </a:ext>
              </a:extLst>
            </p:cNvPr>
            <p:cNvPicPr>
              <a:picLocks noChangeAspect="1"/>
            </p:cNvPicPr>
            <p:nvPr/>
          </p:nvPicPr>
          <p:blipFill>
            <a:blip r:embed="rId3"/>
            <a:stretch>
              <a:fillRect/>
            </a:stretch>
          </p:blipFill>
          <p:spPr>
            <a:xfrm>
              <a:off x="290383" y="1106948"/>
              <a:ext cx="7699429" cy="6845312"/>
            </a:xfrm>
            <a:prstGeom prst="rect">
              <a:avLst/>
            </a:prstGeom>
          </p:spPr>
        </p:pic>
        <p:sp>
          <p:nvSpPr>
            <p:cNvPr id="7" name="Rectangle 6">
              <a:extLst>
                <a:ext uri="{FF2B5EF4-FFF2-40B4-BE49-F238E27FC236}">
                  <a16:creationId xmlns:a16="http://schemas.microsoft.com/office/drawing/2014/main" id="{5B4EAE67-E202-C95B-0BD8-E6D4F7A54382}"/>
                </a:ext>
              </a:extLst>
            </p:cNvPr>
            <p:cNvSpPr/>
            <p:nvPr/>
          </p:nvSpPr>
          <p:spPr>
            <a:xfrm>
              <a:off x="5094521" y="1654630"/>
              <a:ext cx="333828" cy="3037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14</a:t>
              </a:r>
            </a:p>
          </p:txBody>
        </p:sp>
      </p:grpSp>
    </p:spTree>
    <p:extLst>
      <p:ext uri="{BB962C8B-B14F-4D97-AF65-F5344CB8AC3E}">
        <p14:creationId xmlns:p14="http://schemas.microsoft.com/office/powerpoint/2010/main" val="4286866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222422" y="780868"/>
            <a:ext cx="14049632" cy="765452"/>
          </a:xfrm>
          <a:prstGeom prst="rect">
            <a:avLst/>
          </a:prstGeom>
          <a:noFill/>
          <a:ln/>
        </p:spPr>
        <p:txBody>
          <a:bodyPr wrap="none" lIns="0" tIns="0" rIns="0" bIns="0" rtlCol="0" anchor="t"/>
          <a:lstStyle/>
          <a:p>
            <a:pPr algn="ctr">
              <a:lnSpc>
                <a:spcPts val="4450"/>
              </a:lnSpc>
            </a:pPr>
            <a:r>
              <a:rPr lang="en-US" sz="3550" b="1" dirty="0">
                <a:solidFill>
                  <a:srgbClr val="002060"/>
                </a:solidFill>
                <a:latin typeface="Libre Baskerville" pitchFamily="34" charset="0"/>
              </a:rPr>
              <a:t>How COVID-19 impact ABC Company’s parcel business</a:t>
            </a:r>
          </a:p>
        </p:txBody>
      </p:sp>
      <p:sp>
        <p:nvSpPr>
          <p:cNvPr id="4" name="Shape 2"/>
          <p:cNvSpPr/>
          <p:nvPr/>
        </p:nvSpPr>
        <p:spPr>
          <a:xfrm>
            <a:off x="793790" y="3377927"/>
            <a:ext cx="13042821" cy="1291416"/>
          </a:xfrm>
          <a:prstGeom prst="roundRect">
            <a:avLst>
              <a:gd name="adj" fmla="val 4845"/>
            </a:avLst>
          </a:prstGeom>
          <a:noFill/>
          <a:ln w="7620">
            <a:solidFill>
              <a:srgbClr val="000000">
                <a:alpha val="8000"/>
              </a:srgbClr>
            </a:solidFill>
            <a:prstDash val="solid"/>
          </a:ln>
        </p:spPr>
        <p:txBody>
          <a:bodyPr/>
          <a:lstStyle/>
          <a:p>
            <a:endParaRPr lang="en-US"/>
          </a:p>
        </p:txBody>
      </p:sp>
      <p:sp>
        <p:nvSpPr>
          <p:cNvPr id="5" name="Shape 3"/>
          <p:cNvSpPr/>
          <p:nvPr/>
        </p:nvSpPr>
        <p:spPr>
          <a:xfrm>
            <a:off x="801410" y="2508215"/>
            <a:ext cx="13027581" cy="650319"/>
          </a:xfrm>
          <a:prstGeom prst="rect">
            <a:avLst/>
          </a:prstGeom>
          <a:solidFill>
            <a:srgbClr val="FFFFFF">
              <a:alpha val="4000"/>
            </a:srgbClr>
          </a:solidFill>
          <a:ln/>
        </p:spPr>
        <p:txBody>
          <a:bodyPr/>
          <a:lstStyle/>
          <a:p>
            <a:endParaRPr lang="en-US"/>
          </a:p>
        </p:txBody>
      </p:sp>
      <p:sp>
        <p:nvSpPr>
          <p:cNvPr id="6" name="Text 4"/>
          <p:cNvSpPr/>
          <p:nvPr/>
        </p:nvSpPr>
        <p:spPr>
          <a:xfrm>
            <a:off x="1028462" y="2651923"/>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Metric</a:t>
            </a:r>
            <a:endParaRPr lang="en-US" sz="1750" b="1" dirty="0">
              <a:solidFill>
                <a:srgbClr val="002060"/>
              </a:solidFill>
            </a:endParaRPr>
          </a:p>
        </p:txBody>
      </p:sp>
      <p:sp>
        <p:nvSpPr>
          <p:cNvPr id="7" name="Text 5"/>
          <p:cNvSpPr/>
          <p:nvPr/>
        </p:nvSpPr>
        <p:spPr>
          <a:xfrm>
            <a:off x="4289108" y="2651923"/>
            <a:ext cx="2795588"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2019 (Wk 12–53)</a:t>
            </a:r>
            <a:endParaRPr lang="en-US" sz="1750" b="1" dirty="0">
              <a:solidFill>
                <a:srgbClr val="002060"/>
              </a:solidFill>
            </a:endParaRPr>
          </a:p>
        </p:txBody>
      </p:sp>
      <p:sp>
        <p:nvSpPr>
          <p:cNvPr id="8" name="Text 6"/>
          <p:cNvSpPr/>
          <p:nvPr/>
        </p:nvSpPr>
        <p:spPr>
          <a:xfrm>
            <a:off x="7545943" y="2651923"/>
            <a:ext cx="2795588"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2020 (Wk 12–53)</a:t>
            </a:r>
            <a:endParaRPr lang="en-US" sz="1750" b="1" dirty="0">
              <a:solidFill>
                <a:srgbClr val="002060"/>
              </a:solidFill>
            </a:endParaRPr>
          </a:p>
        </p:txBody>
      </p:sp>
      <p:sp>
        <p:nvSpPr>
          <p:cNvPr id="9" name="Text 7"/>
          <p:cNvSpPr/>
          <p:nvPr/>
        </p:nvSpPr>
        <p:spPr>
          <a:xfrm>
            <a:off x="10802779" y="2651923"/>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 Change</a:t>
            </a:r>
            <a:endParaRPr lang="en-US" sz="1750" b="1" dirty="0">
              <a:solidFill>
                <a:srgbClr val="002060"/>
              </a:solidFill>
            </a:endParaRPr>
          </a:p>
        </p:txBody>
      </p:sp>
      <p:sp>
        <p:nvSpPr>
          <p:cNvPr id="10" name="Shape 8"/>
          <p:cNvSpPr/>
          <p:nvPr/>
        </p:nvSpPr>
        <p:spPr>
          <a:xfrm>
            <a:off x="801410" y="3158534"/>
            <a:ext cx="13027581" cy="650319"/>
          </a:xfrm>
          <a:prstGeom prst="rect">
            <a:avLst/>
          </a:prstGeom>
          <a:solidFill>
            <a:srgbClr val="000000">
              <a:alpha val="4000"/>
            </a:srgbClr>
          </a:solidFill>
          <a:ln/>
        </p:spPr>
        <p:txBody>
          <a:bodyPr/>
          <a:lstStyle/>
          <a:p>
            <a:endParaRPr lang="en-US"/>
          </a:p>
        </p:txBody>
      </p:sp>
      <p:sp>
        <p:nvSpPr>
          <p:cNvPr id="11" name="Text 9"/>
          <p:cNvSpPr/>
          <p:nvPr/>
        </p:nvSpPr>
        <p:spPr>
          <a:xfrm>
            <a:off x="1028462" y="330224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Parcel Volume</a:t>
            </a:r>
            <a:endParaRPr lang="en-US" sz="1750" dirty="0">
              <a:solidFill>
                <a:srgbClr val="002060"/>
              </a:solidFill>
            </a:endParaRPr>
          </a:p>
        </p:txBody>
      </p:sp>
      <p:sp>
        <p:nvSpPr>
          <p:cNvPr id="12" name="Text 10"/>
          <p:cNvSpPr/>
          <p:nvPr/>
        </p:nvSpPr>
        <p:spPr>
          <a:xfrm>
            <a:off x="4289108" y="330224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43 million</a:t>
            </a:r>
            <a:endParaRPr lang="en-US" sz="1750" dirty="0">
              <a:solidFill>
                <a:srgbClr val="002060"/>
              </a:solidFill>
            </a:endParaRPr>
          </a:p>
        </p:txBody>
      </p:sp>
      <p:sp>
        <p:nvSpPr>
          <p:cNvPr id="13" name="Text 11"/>
          <p:cNvSpPr/>
          <p:nvPr/>
        </p:nvSpPr>
        <p:spPr>
          <a:xfrm>
            <a:off x="7545943" y="330224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63 million</a:t>
            </a:r>
            <a:endParaRPr lang="en-US" sz="1750" dirty="0">
              <a:solidFill>
                <a:srgbClr val="002060"/>
              </a:solidFill>
            </a:endParaRPr>
          </a:p>
        </p:txBody>
      </p:sp>
      <p:sp>
        <p:nvSpPr>
          <p:cNvPr id="14" name="Text 12"/>
          <p:cNvSpPr/>
          <p:nvPr/>
        </p:nvSpPr>
        <p:spPr>
          <a:xfrm>
            <a:off x="10802779" y="330224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+47.84%</a:t>
            </a:r>
            <a:endParaRPr lang="en-US" sz="1750" dirty="0">
              <a:solidFill>
                <a:srgbClr val="002060"/>
              </a:solidFill>
            </a:endParaRPr>
          </a:p>
        </p:txBody>
      </p:sp>
      <p:sp>
        <p:nvSpPr>
          <p:cNvPr id="16" name="Text 14"/>
          <p:cNvSpPr/>
          <p:nvPr/>
        </p:nvSpPr>
        <p:spPr>
          <a:xfrm>
            <a:off x="1028462" y="395256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Active Customers</a:t>
            </a:r>
            <a:endParaRPr lang="en-US" sz="1750" dirty="0">
              <a:solidFill>
                <a:srgbClr val="002060"/>
              </a:solidFill>
            </a:endParaRPr>
          </a:p>
        </p:txBody>
      </p:sp>
      <p:sp>
        <p:nvSpPr>
          <p:cNvPr id="17" name="Text 15"/>
          <p:cNvSpPr/>
          <p:nvPr/>
        </p:nvSpPr>
        <p:spPr>
          <a:xfrm>
            <a:off x="4289108" y="395256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1,060</a:t>
            </a:r>
            <a:endParaRPr lang="en-US" sz="1750" dirty="0">
              <a:solidFill>
                <a:srgbClr val="002060"/>
              </a:solidFill>
            </a:endParaRPr>
          </a:p>
        </p:txBody>
      </p:sp>
      <p:sp>
        <p:nvSpPr>
          <p:cNvPr id="18" name="Text 16"/>
          <p:cNvSpPr/>
          <p:nvPr/>
        </p:nvSpPr>
        <p:spPr>
          <a:xfrm>
            <a:off x="7545943" y="3952562"/>
            <a:ext cx="2795588" cy="362903"/>
          </a:xfrm>
          <a:prstGeom prst="rect">
            <a:avLst/>
          </a:prstGeom>
          <a:noFill/>
          <a:ln/>
        </p:spPr>
        <p:txBody>
          <a:bodyPr wrap="none" lIns="0" tIns="0" rIns="0" bIns="0" rtlCol="0" anchor="t"/>
          <a:lstStyle/>
          <a:p>
            <a:pPr marL="0" indent="0" algn="l">
              <a:lnSpc>
                <a:spcPts val="2850"/>
              </a:lnSpc>
              <a:buNone/>
            </a:pPr>
            <a:r>
              <a:rPr lang="en-US" sz="1750" dirty="0">
                <a:solidFill>
                  <a:srgbClr val="002060"/>
                </a:solidFill>
                <a:latin typeface="DM Sans" pitchFamily="34" charset="0"/>
                <a:ea typeface="DM Sans" pitchFamily="34" charset="-122"/>
                <a:cs typeface="DM Sans" pitchFamily="34" charset="-120"/>
              </a:rPr>
              <a:t>1,035</a:t>
            </a:r>
            <a:endParaRPr lang="en-US" sz="1750" dirty="0">
              <a:solidFill>
                <a:srgbClr val="002060"/>
              </a:solidFill>
            </a:endParaRPr>
          </a:p>
        </p:txBody>
      </p:sp>
      <p:sp>
        <p:nvSpPr>
          <p:cNvPr id="19" name="Text 17"/>
          <p:cNvSpPr/>
          <p:nvPr/>
        </p:nvSpPr>
        <p:spPr>
          <a:xfrm>
            <a:off x="10802779" y="3952562"/>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002060"/>
                </a:solidFill>
                <a:latin typeface="DM Sans" pitchFamily="34" charset="0"/>
                <a:ea typeface="DM Sans" pitchFamily="34" charset="-122"/>
                <a:cs typeface="DM Sans" pitchFamily="34" charset="-120"/>
              </a:rPr>
              <a:t>-2.36%</a:t>
            </a:r>
            <a:endParaRPr lang="en-US" sz="1750" dirty="0">
              <a:solidFill>
                <a:srgbClr val="002060"/>
              </a:solidFill>
            </a:endParaRPr>
          </a:p>
        </p:txBody>
      </p:sp>
      <p:sp>
        <p:nvSpPr>
          <p:cNvPr id="20" name="Text 18"/>
          <p:cNvSpPr/>
          <p:nvPr/>
        </p:nvSpPr>
        <p:spPr>
          <a:xfrm>
            <a:off x="563285" y="5280053"/>
            <a:ext cx="13042821" cy="2437928"/>
          </a:xfrm>
          <a:prstGeom prst="rect">
            <a:avLst/>
          </a:prstGeom>
          <a:solidFill>
            <a:schemeClr val="bg1"/>
          </a:solidFill>
          <a:ln/>
        </p:spPr>
        <p:txBody>
          <a:bodyPr wrap="square" lIns="0" tIns="0" rIns="0" bIns="0" rtlCol="0" anchor="t"/>
          <a:lstStyle/>
          <a:p>
            <a:pPr marL="285750" lvl="0" indent="-285750" fontAlgn="base">
              <a:lnSpc>
                <a:spcPct val="150000"/>
              </a:lnSpc>
              <a:spcBef>
                <a:spcPct val="0"/>
              </a:spcBef>
              <a:spcAft>
                <a:spcPct val="0"/>
              </a:spcAft>
              <a:buFont typeface="Arial" panose="020B0604020202020204" pitchFamily="34" charset="0"/>
              <a:buChar char="•"/>
            </a:pPr>
            <a:r>
              <a:rPr lang="en-US" altLang="en-US" sz="2000" b="1" dirty="0">
                <a:solidFill>
                  <a:srgbClr val="002060"/>
                </a:solidFill>
                <a:latin typeface="DM Sans" pitchFamily="34" charset="0"/>
              </a:rPr>
              <a:t>Parcel Volume: </a:t>
            </a:r>
            <a:r>
              <a:rPr lang="en-US" altLang="en-US" sz="2000" dirty="0">
                <a:solidFill>
                  <a:srgbClr val="002060"/>
                </a:solidFill>
                <a:latin typeface="DM Sans" pitchFamily="34" charset="0"/>
              </a:rPr>
              <a:t>Increased by 47.84% during COVID (Week 12–53, 2020 vs 2019 same period). </a:t>
            </a:r>
            <a:r>
              <a:rPr lang="en-US" sz="2000" dirty="0">
                <a:solidFill>
                  <a:srgbClr val="002060"/>
                </a:solidFill>
                <a:latin typeface="DM Sans" pitchFamily="34" charset="0"/>
              </a:rPr>
              <a:t>This suggests that revenue likely grew by a similar percentage during the same period.</a:t>
            </a:r>
          </a:p>
          <a:p>
            <a:pPr marL="285750" lvl="0" indent="-285750" fontAlgn="base">
              <a:lnSpc>
                <a:spcPct val="150000"/>
              </a:lnSpc>
              <a:spcBef>
                <a:spcPct val="0"/>
              </a:spcBef>
              <a:spcAft>
                <a:spcPct val="0"/>
              </a:spcAft>
              <a:buFont typeface="Arial" panose="020B0604020202020204" pitchFamily="34" charset="0"/>
              <a:buChar char="•"/>
            </a:pPr>
            <a:endParaRPr lang="en-US" altLang="en-US" sz="2000" dirty="0">
              <a:solidFill>
                <a:srgbClr val="002060"/>
              </a:solidFill>
              <a:latin typeface="DM Sans" pitchFamily="34" charset="0"/>
            </a:endParaRPr>
          </a:p>
          <a:p>
            <a:pPr marL="285750" indent="-285750" fontAlgn="base">
              <a:lnSpc>
                <a:spcPct val="150000"/>
              </a:lnSpc>
              <a:spcBef>
                <a:spcPct val="0"/>
              </a:spcBef>
              <a:spcAft>
                <a:spcPct val="0"/>
              </a:spcAft>
              <a:buFont typeface="Arial" panose="020B0604020202020204" pitchFamily="34" charset="0"/>
              <a:buChar char="•"/>
            </a:pPr>
            <a:r>
              <a:rPr lang="en-US" altLang="en-US" sz="2000" b="1" dirty="0">
                <a:solidFill>
                  <a:srgbClr val="002060"/>
                </a:solidFill>
                <a:latin typeface="DM Sans" pitchFamily="34" charset="0"/>
              </a:rPr>
              <a:t>Active Customers: </a:t>
            </a:r>
            <a:r>
              <a:rPr lang="en-US" altLang="en-US" sz="2000" dirty="0">
                <a:solidFill>
                  <a:srgbClr val="002060"/>
                </a:solidFill>
                <a:latin typeface="DM Sans" pitchFamily="34" charset="0"/>
              </a:rPr>
              <a:t>Slight decline of −2.36% in the number of customers ABC catered to in 2020(</a:t>
            </a:r>
            <a:r>
              <a:rPr lang="en-US" altLang="en-US" sz="2000" dirty="0" err="1">
                <a:solidFill>
                  <a:srgbClr val="002060"/>
                </a:solidFill>
                <a:latin typeface="DM Sans" pitchFamily="34" charset="0"/>
              </a:rPr>
              <a:t>Wk</a:t>
            </a:r>
            <a:r>
              <a:rPr lang="en-US" altLang="en-US" sz="2000" dirty="0">
                <a:solidFill>
                  <a:srgbClr val="002060"/>
                </a:solidFill>
                <a:latin typeface="DM Sans" pitchFamily="34" charset="0"/>
              </a:rPr>
              <a:t> 12-53) compared to the same period in 2019.</a:t>
            </a:r>
            <a:endParaRPr lang="en-US" sz="2000" dirty="0"/>
          </a:p>
          <a:p>
            <a:pPr marL="285750" lvl="0" indent="-285750" fontAlgn="base">
              <a:lnSpc>
                <a:spcPct val="150000"/>
              </a:lnSpc>
              <a:spcBef>
                <a:spcPct val="0"/>
              </a:spcBef>
              <a:spcAft>
                <a:spcPct val="0"/>
              </a:spcAft>
              <a:buFont typeface="Arial" panose="020B0604020202020204" pitchFamily="34" charset="0"/>
              <a:buChar char="•"/>
            </a:pPr>
            <a:endParaRPr lang="en-US" altLang="en-US" sz="2000" dirty="0">
              <a:solidFill>
                <a:srgbClr val="002060"/>
              </a:solidFill>
              <a:latin typeface="DM Sans"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showing the growth of the stock market">
            <a:extLst>
              <a:ext uri="{FF2B5EF4-FFF2-40B4-BE49-F238E27FC236}">
                <a16:creationId xmlns:a16="http://schemas.microsoft.com/office/drawing/2014/main" id="{31E8D78A-533D-8F15-9D84-5683514C7941}"/>
              </a:ext>
            </a:extLst>
          </p:cNvPr>
          <p:cNvPicPr>
            <a:picLocks noChangeAspect="1"/>
          </p:cNvPicPr>
          <p:nvPr/>
        </p:nvPicPr>
        <p:blipFill>
          <a:blip r:embed="rId3"/>
          <a:stretch>
            <a:fillRect/>
          </a:stretch>
        </p:blipFill>
        <p:spPr>
          <a:xfrm>
            <a:off x="193520" y="1110222"/>
            <a:ext cx="9760932" cy="6047873"/>
          </a:xfrm>
          <a:prstGeom prst="rect">
            <a:avLst/>
          </a:prstGeom>
          <a:ln>
            <a:noFill/>
          </a:ln>
        </p:spPr>
      </p:pic>
      <p:sp>
        <p:nvSpPr>
          <p:cNvPr id="7" name="TextBox 6">
            <a:extLst>
              <a:ext uri="{FF2B5EF4-FFF2-40B4-BE49-F238E27FC236}">
                <a16:creationId xmlns:a16="http://schemas.microsoft.com/office/drawing/2014/main" id="{52B14201-9901-51F7-BD15-25AC8E5F011E}"/>
              </a:ext>
            </a:extLst>
          </p:cNvPr>
          <p:cNvSpPr txBox="1"/>
          <p:nvPr/>
        </p:nvSpPr>
        <p:spPr>
          <a:xfrm>
            <a:off x="10214467" y="1420681"/>
            <a:ext cx="4415933" cy="5601533"/>
          </a:xfrm>
          <a:prstGeom prst="rect">
            <a:avLst/>
          </a:prstGeom>
          <a:noFill/>
        </p:spPr>
        <p:txBody>
          <a:bodyPr wrap="square" rtlCol="0">
            <a:spAutoFit/>
          </a:bodyPr>
          <a:lstStyle/>
          <a:p>
            <a:r>
              <a:rPr lang="en-US" sz="2000" b="1" dirty="0">
                <a:solidFill>
                  <a:srgbClr val="002060"/>
                </a:solidFill>
              </a:rPr>
              <a:t>Pre COVID observation:  </a:t>
            </a:r>
            <a:r>
              <a:rPr lang="en-US" sz="2000" b="1" dirty="0" err="1">
                <a:solidFill>
                  <a:srgbClr val="002060"/>
                </a:solidFill>
              </a:rPr>
              <a:t>Wk</a:t>
            </a:r>
            <a:r>
              <a:rPr lang="en-US" sz="2000" b="1" dirty="0">
                <a:solidFill>
                  <a:srgbClr val="002060"/>
                </a:solidFill>
              </a:rPr>
              <a:t> 1-11</a:t>
            </a:r>
          </a:p>
          <a:p>
            <a:r>
              <a:rPr lang="en-US" sz="2000" b="1" dirty="0">
                <a:solidFill>
                  <a:srgbClr val="002060"/>
                </a:solidFill>
              </a:rPr>
              <a:t>Post COVID observation: </a:t>
            </a:r>
            <a:r>
              <a:rPr lang="en-US" sz="2000" b="1" dirty="0" err="1">
                <a:solidFill>
                  <a:srgbClr val="002060"/>
                </a:solidFill>
              </a:rPr>
              <a:t>Wk</a:t>
            </a:r>
            <a:r>
              <a:rPr lang="en-US" sz="2000" b="1" dirty="0">
                <a:solidFill>
                  <a:srgbClr val="002060"/>
                </a:solidFill>
              </a:rPr>
              <a:t> 12-53</a:t>
            </a:r>
          </a:p>
          <a:p>
            <a:endParaRPr lang="en-US" sz="2000" dirty="0">
              <a:solidFill>
                <a:srgbClr val="002060"/>
              </a:solidFill>
            </a:endParaRPr>
          </a:p>
          <a:p>
            <a:endParaRPr lang="en-US" sz="2000" dirty="0">
              <a:solidFill>
                <a:srgbClr val="002060"/>
              </a:solidFill>
            </a:endParaRPr>
          </a:p>
          <a:p>
            <a:r>
              <a:rPr lang="en-US" sz="2000" b="1" dirty="0">
                <a:solidFill>
                  <a:srgbClr val="002060"/>
                </a:solidFill>
              </a:rPr>
              <a:t> Key Parcel Volume Insights</a:t>
            </a:r>
          </a:p>
          <a:p>
            <a:r>
              <a:rPr lang="en-US" sz="2000" dirty="0">
                <a:solidFill>
                  <a:srgbClr val="002060"/>
                </a:solidFill>
              </a:rPr>
              <a:t>Pre-Shift: Volumes stable at 900K-1m until Week 11 (2020).</a:t>
            </a:r>
          </a:p>
          <a:p>
            <a:endParaRPr lang="en-US" sz="2000" dirty="0">
              <a:solidFill>
                <a:srgbClr val="002060"/>
              </a:solidFill>
            </a:endParaRPr>
          </a:p>
          <a:p>
            <a:r>
              <a:rPr lang="en-US" sz="2000" b="1" dirty="0">
                <a:solidFill>
                  <a:srgbClr val="002060"/>
                </a:solidFill>
              </a:rPr>
              <a:t>The Break</a:t>
            </a:r>
          </a:p>
          <a:p>
            <a:r>
              <a:rPr lang="en-US" sz="2000" dirty="0">
                <a:solidFill>
                  <a:srgbClr val="002060"/>
                </a:solidFill>
              </a:rPr>
              <a:t>Volume diverged sharply starting Week 12 which was due to March Pandemic Declaration.</a:t>
            </a:r>
          </a:p>
          <a:p>
            <a:endParaRPr lang="en-US" sz="2000" dirty="0">
              <a:solidFill>
                <a:srgbClr val="002060"/>
              </a:solidFill>
            </a:endParaRPr>
          </a:p>
          <a:p>
            <a:r>
              <a:rPr lang="en-US" sz="2000" b="1" dirty="0">
                <a:solidFill>
                  <a:srgbClr val="002060"/>
                </a:solidFill>
              </a:rPr>
              <a:t>New Baseline</a:t>
            </a:r>
          </a:p>
          <a:p>
            <a:r>
              <a:rPr lang="en-US" sz="2000" dirty="0">
                <a:solidFill>
                  <a:srgbClr val="002060"/>
                </a:solidFill>
              </a:rPr>
              <a:t>A new weekly baseline emerged (1.2m minimum). And a record end-of-year peak reaching 3M parcels.</a:t>
            </a:r>
          </a:p>
          <a:p>
            <a:r>
              <a:rPr lang="en-US" dirty="0">
                <a:solidFill>
                  <a:srgbClr val="002060"/>
                </a:solidFill>
              </a:rPr>
              <a:t> </a:t>
            </a:r>
          </a:p>
        </p:txBody>
      </p:sp>
      <p:sp>
        <p:nvSpPr>
          <p:cNvPr id="2" name="TextBox 1">
            <a:extLst>
              <a:ext uri="{FF2B5EF4-FFF2-40B4-BE49-F238E27FC236}">
                <a16:creationId xmlns:a16="http://schemas.microsoft.com/office/drawing/2014/main" id="{8AA90CF6-95A8-EAA5-867D-FA9087BE3F1D}"/>
              </a:ext>
            </a:extLst>
          </p:cNvPr>
          <p:cNvSpPr txBox="1"/>
          <p:nvPr/>
        </p:nvSpPr>
        <p:spPr>
          <a:xfrm>
            <a:off x="277745" y="256458"/>
            <a:ext cx="11447365" cy="638636"/>
          </a:xfrm>
          <a:prstGeom prst="rect">
            <a:avLst/>
          </a:prstGeom>
          <a:noFill/>
        </p:spPr>
        <p:txBody>
          <a:bodyPr wrap="none" rtlCol="0">
            <a:spAutoFit/>
          </a:bodyPr>
          <a:lstStyle/>
          <a:p>
            <a:r>
              <a:rPr lang="en-US" sz="3550" b="1" dirty="0">
                <a:solidFill>
                  <a:srgbClr val="002060"/>
                </a:solidFill>
                <a:latin typeface="Libre Baskerville" pitchFamily="34" charset="0"/>
              </a:rPr>
              <a:t>When Customer Volumes Were First Impacted</a:t>
            </a:r>
          </a:p>
        </p:txBody>
      </p:sp>
    </p:spTree>
    <p:extLst>
      <p:ext uri="{BB962C8B-B14F-4D97-AF65-F5344CB8AC3E}">
        <p14:creationId xmlns:p14="http://schemas.microsoft.com/office/powerpoint/2010/main" val="1608917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graph with orange and blue lines&#10;&#10;AI-generated content may be incorrect.">
            <a:extLst>
              <a:ext uri="{FF2B5EF4-FFF2-40B4-BE49-F238E27FC236}">
                <a16:creationId xmlns:a16="http://schemas.microsoft.com/office/drawing/2014/main" id="{0AF803D5-5D74-09F5-992F-B6EB9ABDA34D}"/>
              </a:ext>
            </a:extLst>
          </p:cNvPr>
          <p:cNvPicPr>
            <a:picLocks noChangeAspect="1"/>
          </p:cNvPicPr>
          <p:nvPr/>
        </p:nvPicPr>
        <p:blipFill>
          <a:blip r:embed="rId2"/>
          <a:stretch>
            <a:fillRect/>
          </a:stretch>
        </p:blipFill>
        <p:spPr>
          <a:xfrm>
            <a:off x="0" y="1399535"/>
            <a:ext cx="14256421" cy="6137754"/>
          </a:xfrm>
          <a:prstGeom prst="rect">
            <a:avLst/>
          </a:prstGeom>
        </p:spPr>
      </p:pic>
      <p:sp>
        <p:nvSpPr>
          <p:cNvPr id="2" name="TextBox 1">
            <a:extLst>
              <a:ext uri="{FF2B5EF4-FFF2-40B4-BE49-F238E27FC236}">
                <a16:creationId xmlns:a16="http://schemas.microsoft.com/office/drawing/2014/main" id="{425360F5-1D57-5C36-4EA6-885BB7F7E3AF}"/>
              </a:ext>
            </a:extLst>
          </p:cNvPr>
          <p:cNvSpPr txBox="1"/>
          <p:nvPr/>
        </p:nvSpPr>
        <p:spPr>
          <a:xfrm>
            <a:off x="496697" y="256879"/>
            <a:ext cx="11394466" cy="638636"/>
          </a:xfrm>
          <a:prstGeom prst="rect">
            <a:avLst/>
          </a:prstGeom>
          <a:noFill/>
        </p:spPr>
        <p:txBody>
          <a:bodyPr wrap="none" rtlCol="0">
            <a:spAutoFit/>
          </a:bodyPr>
          <a:lstStyle/>
          <a:p>
            <a:r>
              <a:rPr lang="en-US" sz="3550" b="1" dirty="0">
                <a:solidFill>
                  <a:srgbClr val="002060"/>
                </a:solidFill>
                <a:latin typeface="Libre Baskerville" pitchFamily="34" charset="0"/>
              </a:rPr>
              <a:t>Key COVID-19 Events That Drove The Change</a:t>
            </a:r>
          </a:p>
        </p:txBody>
      </p:sp>
    </p:spTree>
    <p:extLst>
      <p:ext uri="{BB962C8B-B14F-4D97-AF65-F5344CB8AC3E}">
        <p14:creationId xmlns:p14="http://schemas.microsoft.com/office/powerpoint/2010/main" val="3140163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25720" y="436261"/>
            <a:ext cx="6254353" cy="538758"/>
          </a:xfrm>
          <a:prstGeom prst="rect">
            <a:avLst/>
          </a:prstGeom>
          <a:noFill/>
          <a:ln/>
        </p:spPr>
        <p:txBody>
          <a:bodyPr wrap="none" lIns="0" tIns="0" rIns="0" bIns="0" rtlCol="0" anchor="t"/>
          <a:lstStyle/>
          <a:p>
            <a:pPr marL="0" indent="0" algn="l">
              <a:lnSpc>
                <a:spcPts val="4200"/>
              </a:lnSpc>
              <a:buNone/>
            </a:pPr>
            <a:r>
              <a:rPr lang="en-US" sz="3350" b="1" dirty="0">
                <a:solidFill>
                  <a:srgbClr val="002060"/>
                </a:solidFill>
                <a:latin typeface="Libre Baskerville" pitchFamily="34" charset="0"/>
                <a:ea typeface="Libre Baskerville" pitchFamily="34" charset="-122"/>
                <a:cs typeface="Libre Baskerville" pitchFamily="34" charset="-120"/>
              </a:rPr>
              <a:t>External Drivers &amp; Timeline</a:t>
            </a:r>
            <a:endParaRPr lang="en-US" sz="3350" b="1" dirty="0">
              <a:solidFill>
                <a:srgbClr val="002060"/>
              </a:solidFill>
            </a:endParaRPr>
          </a:p>
        </p:txBody>
      </p:sp>
      <p:sp>
        <p:nvSpPr>
          <p:cNvPr id="3" name="Text 1"/>
          <p:cNvSpPr/>
          <p:nvPr/>
        </p:nvSpPr>
        <p:spPr>
          <a:xfrm>
            <a:off x="778549" y="1238786"/>
            <a:ext cx="13042821" cy="344805"/>
          </a:xfrm>
          <a:prstGeom prst="rect">
            <a:avLst/>
          </a:prstGeom>
          <a:noFill/>
          <a:ln/>
        </p:spPr>
        <p:txBody>
          <a:bodyPr wrap="none" lIns="0" tIns="0" rIns="0" bIns="0" rtlCol="0" anchor="t"/>
          <a:lstStyle/>
          <a:p>
            <a:pPr marL="0" indent="0" algn="l">
              <a:lnSpc>
                <a:spcPts val="2700"/>
              </a:lnSpc>
              <a:buNone/>
            </a:pPr>
            <a:r>
              <a:rPr lang="en-US" sz="1650" dirty="0">
                <a:solidFill>
                  <a:srgbClr val="002060"/>
                </a:solidFill>
                <a:latin typeface="DM Sans" pitchFamily="34" charset="0"/>
                <a:ea typeface="DM Sans" pitchFamily="34" charset="-122"/>
                <a:cs typeface="DM Sans" pitchFamily="34" charset="-120"/>
              </a:rPr>
              <a:t>A rapid sequence of events created the operational necessity for our growth.</a:t>
            </a:r>
            <a:endParaRPr lang="en-US" sz="1650" dirty="0">
              <a:solidFill>
                <a:srgbClr val="002060"/>
              </a:solidFill>
            </a:endParaRPr>
          </a:p>
        </p:txBody>
      </p:sp>
      <p:sp>
        <p:nvSpPr>
          <p:cNvPr id="4" name="Shape 2"/>
          <p:cNvSpPr/>
          <p:nvPr/>
        </p:nvSpPr>
        <p:spPr>
          <a:xfrm>
            <a:off x="7299960" y="2233493"/>
            <a:ext cx="30480" cy="5319474"/>
          </a:xfrm>
          <a:prstGeom prst="roundRect">
            <a:avLst>
              <a:gd name="adj" fmla="val 296930"/>
            </a:avLst>
          </a:prstGeom>
          <a:solidFill>
            <a:srgbClr val="DDD3BA"/>
          </a:solidFill>
          <a:ln/>
        </p:spPr>
        <p:txBody>
          <a:bodyPr/>
          <a:lstStyle/>
          <a:p>
            <a:endParaRPr lang="en-US">
              <a:solidFill>
                <a:srgbClr val="002060"/>
              </a:solidFill>
            </a:endParaRPr>
          </a:p>
        </p:txBody>
      </p:sp>
      <p:sp>
        <p:nvSpPr>
          <p:cNvPr id="5" name="Shape 3"/>
          <p:cNvSpPr/>
          <p:nvPr/>
        </p:nvSpPr>
        <p:spPr>
          <a:xfrm>
            <a:off x="6456878" y="2460665"/>
            <a:ext cx="646390" cy="30480"/>
          </a:xfrm>
          <a:prstGeom prst="roundRect">
            <a:avLst>
              <a:gd name="adj" fmla="val 296930"/>
            </a:avLst>
          </a:prstGeom>
          <a:solidFill>
            <a:srgbClr val="DDD3BA"/>
          </a:solidFill>
          <a:ln/>
        </p:spPr>
        <p:txBody>
          <a:bodyPr/>
          <a:lstStyle/>
          <a:p>
            <a:endParaRPr lang="en-US">
              <a:solidFill>
                <a:srgbClr val="002060"/>
              </a:solidFill>
            </a:endParaRPr>
          </a:p>
        </p:txBody>
      </p:sp>
      <p:sp>
        <p:nvSpPr>
          <p:cNvPr id="6" name="Shape 4"/>
          <p:cNvSpPr/>
          <p:nvPr/>
        </p:nvSpPr>
        <p:spPr>
          <a:xfrm>
            <a:off x="7072789" y="2233493"/>
            <a:ext cx="484823" cy="484823"/>
          </a:xfrm>
          <a:prstGeom prst="roundRect">
            <a:avLst>
              <a:gd name="adj" fmla="val 18667"/>
            </a:avLst>
          </a:prstGeom>
          <a:solidFill>
            <a:srgbClr val="F7EDD4"/>
          </a:solidFill>
          <a:ln w="7620">
            <a:solidFill>
              <a:srgbClr val="DDD3BA"/>
            </a:solidFill>
            <a:prstDash val="solid"/>
          </a:ln>
        </p:spPr>
        <p:txBody>
          <a:bodyPr/>
          <a:lstStyle/>
          <a:p>
            <a:endParaRPr lang="en-US">
              <a:solidFill>
                <a:srgbClr val="002060"/>
              </a:solidFill>
            </a:endParaRPr>
          </a:p>
        </p:txBody>
      </p:sp>
      <p:sp>
        <p:nvSpPr>
          <p:cNvPr id="7" name="Text 5"/>
          <p:cNvSpPr/>
          <p:nvPr/>
        </p:nvSpPr>
        <p:spPr>
          <a:xfrm>
            <a:off x="7153632" y="2273915"/>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002060"/>
                </a:solidFill>
                <a:latin typeface="Libre Baskerville" pitchFamily="34" charset="0"/>
                <a:ea typeface="Libre Baskerville" pitchFamily="34" charset="-122"/>
                <a:cs typeface="Libre Baskerville" pitchFamily="34" charset="-120"/>
              </a:rPr>
              <a:t>1</a:t>
            </a:r>
            <a:endParaRPr lang="en-US" sz="2500" dirty="0">
              <a:solidFill>
                <a:srgbClr val="002060"/>
              </a:solidFill>
            </a:endParaRPr>
          </a:p>
        </p:txBody>
      </p:sp>
      <p:sp>
        <p:nvSpPr>
          <p:cNvPr id="8" name="Text 6"/>
          <p:cNvSpPr/>
          <p:nvPr/>
        </p:nvSpPr>
        <p:spPr>
          <a:xfrm>
            <a:off x="3544253" y="2307550"/>
            <a:ext cx="2693551" cy="336590"/>
          </a:xfrm>
          <a:prstGeom prst="rect">
            <a:avLst/>
          </a:prstGeom>
          <a:noFill/>
          <a:ln/>
        </p:spPr>
        <p:txBody>
          <a:bodyPr wrap="none" lIns="0" tIns="0" rIns="0" bIns="0" rtlCol="0" anchor="t"/>
          <a:lstStyle/>
          <a:p>
            <a:pPr marL="0" indent="0" algn="r">
              <a:lnSpc>
                <a:spcPts val="2650"/>
              </a:lnSpc>
              <a:buNone/>
            </a:pPr>
            <a:r>
              <a:rPr lang="en-US" sz="2100" dirty="0">
                <a:solidFill>
                  <a:srgbClr val="002060"/>
                </a:solidFill>
                <a:latin typeface="Libre Baskerville" pitchFamily="34" charset="0"/>
                <a:ea typeface="Libre Baskerville" pitchFamily="34" charset="-122"/>
                <a:cs typeface="Libre Baskerville" pitchFamily="34" charset="-120"/>
              </a:rPr>
              <a:t>Week 11 (Mar 11):</a:t>
            </a:r>
            <a:endParaRPr lang="en-US" sz="2100" dirty="0">
              <a:solidFill>
                <a:srgbClr val="002060"/>
              </a:solidFill>
            </a:endParaRPr>
          </a:p>
        </p:txBody>
      </p:sp>
      <p:sp>
        <p:nvSpPr>
          <p:cNvPr id="9" name="Text 7"/>
          <p:cNvSpPr/>
          <p:nvPr/>
        </p:nvSpPr>
        <p:spPr>
          <a:xfrm>
            <a:off x="805822" y="2773323"/>
            <a:ext cx="5444014" cy="689610"/>
          </a:xfrm>
          <a:prstGeom prst="rect">
            <a:avLst/>
          </a:prstGeom>
          <a:noFill/>
          <a:ln/>
        </p:spPr>
        <p:txBody>
          <a:bodyPr wrap="square" lIns="0" tIns="0" rIns="0" bIns="0" rtlCol="0" anchor="t"/>
          <a:lstStyle/>
          <a:p>
            <a:pPr marL="0" indent="0" algn="r">
              <a:lnSpc>
                <a:spcPts val="2700"/>
              </a:lnSpc>
              <a:buNone/>
            </a:pPr>
            <a:r>
              <a:rPr lang="en-US" sz="1650" dirty="0">
                <a:solidFill>
                  <a:srgbClr val="002060"/>
                </a:solidFill>
                <a:latin typeface="DM Sans" pitchFamily="34" charset="0"/>
                <a:ea typeface="DM Sans" pitchFamily="34" charset="-122"/>
                <a:cs typeface="DM Sans" pitchFamily="34" charset="-120"/>
              </a:rPr>
              <a:t>WHO declares COVID-19 a pandemic. </a:t>
            </a:r>
            <a:r>
              <a:rPr lang="en-US" sz="1650" i="1" dirty="0">
                <a:solidFill>
                  <a:srgbClr val="002060"/>
                </a:solidFill>
                <a:latin typeface="DM Sans" pitchFamily="34" charset="0"/>
                <a:ea typeface="DM Sans" pitchFamily="34" charset="-122"/>
                <a:cs typeface="DM Sans" pitchFamily="34" charset="-120"/>
              </a:rPr>
              <a:t>Initial shift in consumer fear/buying.</a:t>
            </a:r>
          </a:p>
          <a:p>
            <a:pPr marL="0" indent="0" algn="r">
              <a:lnSpc>
                <a:spcPts val="2700"/>
              </a:lnSpc>
              <a:buNone/>
            </a:pPr>
            <a:r>
              <a:rPr lang="en-US" sz="1650" i="1" dirty="0">
                <a:solidFill>
                  <a:srgbClr val="002060"/>
                </a:solidFill>
                <a:latin typeface="DM Sans" pitchFamily="34" charset="0"/>
              </a:rPr>
              <a:t>Week 11 ended with 900k parcels by ABC.</a:t>
            </a:r>
            <a:endParaRPr lang="en-US" sz="1650" dirty="0">
              <a:solidFill>
                <a:srgbClr val="002060"/>
              </a:solidFill>
            </a:endParaRPr>
          </a:p>
        </p:txBody>
      </p:sp>
      <p:sp>
        <p:nvSpPr>
          <p:cNvPr id="10" name="Shape 8"/>
          <p:cNvSpPr/>
          <p:nvPr/>
        </p:nvSpPr>
        <p:spPr>
          <a:xfrm>
            <a:off x="7527131" y="3753445"/>
            <a:ext cx="646390" cy="30480"/>
          </a:xfrm>
          <a:prstGeom prst="roundRect">
            <a:avLst>
              <a:gd name="adj" fmla="val 296930"/>
            </a:avLst>
          </a:prstGeom>
          <a:solidFill>
            <a:srgbClr val="DDD3BA"/>
          </a:solidFill>
          <a:ln/>
        </p:spPr>
        <p:txBody>
          <a:bodyPr/>
          <a:lstStyle/>
          <a:p>
            <a:endParaRPr lang="en-US">
              <a:solidFill>
                <a:srgbClr val="002060"/>
              </a:solidFill>
            </a:endParaRPr>
          </a:p>
        </p:txBody>
      </p:sp>
      <p:sp>
        <p:nvSpPr>
          <p:cNvPr id="11" name="Shape 9"/>
          <p:cNvSpPr/>
          <p:nvPr/>
        </p:nvSpPr>
        <p:spPr>
          <a:xfrm>
            <a:off x="7072789" y="3526274"/>
            <a:ext cx="484823" cy="484823"/>
          </a:xfrm>
          <a:prstGeom prst="roundRect">
            <a:avLst>
              <a:gd name="adj" fmla="val 18667"/>
            </a:avLst>
          </a:prstGeom>
          <a:solidFill>
            <a:srgbClr val="F7EDD4"/>
          </a:solidFill>
          <a:ln w="7620">
            <a:solidFill>
              <a:srgbClr val="DDD3BA"/>
            </a:solidFill>
            <a:prstDash val="solid"/>
          </a:ln>
        </p:spPr>
        <p:txBody>
          <a:bodyPr/>
          <a:lstStyle/>
          <a:p>
            <a:endParaRPr lang="en-US">
              <a:solidFill>
                <a:srgbClr val="002060"/>
              </a:solidFill>
            </a:endParaRPr>
          </a:p>
        </p:txBody>
      </p:sp>
      <p:sp>
        <p:nvSpPr>
          <p:cNvPr id="12" name="Text 10"/>
          <p:cNvSpPr/>
          <p:nvPr/>
        </p:nvSpPr>
        <p:spPr>
          <a:xfrm>
            <a:off x="7153632" y="3566696"/>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002060"/>
                </a:solidFill>
                <a:latin typeface="Libre Baskerville" pitchFamily="34" charset="0"/>
                <a:ea typeface="Libre Baskerville" pitchFamily="34" charset="-122"/>
                <a:cs typeface="Libre Baskerville" pitchFamily="34" charset="-120"/>
              </a:rPr>
              <a:t>2</a:t>
            </a:r>
            <a:endParaRPr lang="en-US" sz="2500" dirty="0">
              <a:solidFill>
                <a:srgbClr val="002060"/>
              </a:solidFill>
            </a:endParaRPr>
          </a:p>
        </p:txBody>
      </p:sp>
      <p:sp>
        <p:nvSpPr>
          <p:cNvPr id="13" name="Text 11"/>
          <p:cNvSpPr/>
          <p:nvPr/>
        </p:nvSpPr>
        <p:spPr>
          <a:xfrm>
            <a:off x="8392597" y="3600331"/>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002060"/>
                </a:solidFill>
                <a:latin typeface="Libre Baskerville" pitchFamily="34" charset="0"/>
                <a:ea typeface="Libre Baskerville" pitchFamily="34" charset="-122"/>
                <a:cs typeface="Libre Baskerville" pitchFamily="34" charset="-120"/>
              </a:rPr>
              <a:t>Week 12 (Mar 16):</a:t>
            </a:r>
            <a:endParaRPr lang="en-US" sz="2100" dirty="0">
              <a:solidFill>
                <a:srgbClr val="002060"/>
              </a:solidFill>
            </a:endParaRPr>
          </a:p>
        </p:txBody>
      </p:sp>
      <p:sp>
        <p:nvSpPr>
          <p:cNvPr id="14" name="Text 12"/>
          <p:cNvSpPr/>
          <p:nvPr/>
        </p:nvSpPr>
        <p:spPr>
          <a:xfrm>
            <a:off x="8392597" y="4066103"/>
            <a:ext cx="5444014" cy="1059300"/>
          </a:xfrm>
          <a:prstGeom prst="rect">
            <a:avLst/>
          </a:prstGeom>
          <a:noFill/>
          <a:ln/>
        </p:spPr>
        <p:txBody>
          <a:bodyPr wrap="square" lIns="0" tIns="0" rIns="0" bIns="0" rtlCol="0" anchor="t"/>
          <a:lstStyle/>
          <a:p>
            <a:pPr marL="0" indent="0" algn="l">
              <a:lnSpc>
                <a:spcPts val="2700"/>
              </a:lnSpc>
              <a:buNone/>
            </a:pPr>
            <a:r>
              <a:rPr lang="en-US" sz="1650" dirty="0">
                <a:solidFill>
                  <a:srgbClr val="002060"/>
                </a:solidFill>
                <a:latin typeface="DM Sans" pitchFamily="34" charset="0"/>
                <a:ea typeface="DM Sans" pitchFamily="34" charset="-122"/>
                <a:cs typeface="DM Sans" pitchFamily="34" charset="-120"/>
              </a:rPr>
              <a:t>Work-From-Home Mandates &amp; School Closures begin.</a:t>
            </a:r>
          </a:p>
          <a:p>
            <a:pPr marL="0" indent="0" algn="l">
              <a:lnSpc>
                <a:spcPts val="2700"/>
              </a:lnSpc>
              <a:buNone/>
            </a:pPr>
            <a:r>
              <a:rPr lang="en-US" sz="1650" dirty="0">
                <a:solidFill>
                  <a:srgbClr val="002060"/>
                </a:solidFill>
                <a:latin typeface="DM Sans" pitchFamily="34" charset="0"/>
                <a:ea typeface="DM Sans" pitchFamily="34" charset="-122"/>
                <a:cs typeface="DM Sans" pitchFamily="34" charset="-120"/>
              </a:rPr>
              <a:t>US/Canada border restriction</a:t>
            </a:r>
          </a:p>
          <a:p>
            <a:pPr marL="0" indent="0" algn="l">
              <a:lnSpc>
                <a:spcPts val="2700"/>
              </a:lnSpc>
              <a:buNone/>
            </a:pPr>
            <a:r>
              <a:rPr lang="en-US" sz="1650" dirty="0">
                <a:solidFill>
                  <a:srgbClr val="002060"/>
                </a:solidFill>
                <a:latin typeface="DM Sans" pitchFamily="34" charset="0"/>
                <a:ea typeface="DM Sans" pitchFamily="34" charset="-122"/>
                <a:cs typeface="DM Sans" pitchFamily="34" charset="-120"/>
              </a:rPr>
              <a:t>These were key drivers of e-commerce adoption and ABC ended with 1m parcels.</a:t>
            </a:r>
            <a:endParaRPr lang="en-US" sz="1650" dirty="0">
              <a:solidFill>
                <a:srgbClr val="002060"/>
              </a:solidFill>
            </a:endParaRPr>
          </a:p>
        </p:txBody>
      </p:sp>
      <p:sp>
        <p:nvSpPr>
          <p:cNvPr id="15" name="Shape 13"/>
          <p:cNvSpPr/>
          <p:nvPr/>
        </p:nvSpPr>
        <p:spPr>
          <a:xfrm>
            <a:off x="6456878" y="4867751"/>
            <a:ext cx="646390" cy="30480"/>
          </a:xfrm>
          <a:prstGeom prst="roundRect">
            <a:avLst>
              <a:gd name="adj" fmla="val 296930"/>
            </a:avLst>
          </a:prstGeom>
          <a:solidFill>
            <a:srgbClr val="DDD3BA"/>
          </a:solidFill>
          <a:ln/>
        </p:spPr>
        <p:txBody>
          <a:bodyPr/>
          <a:lstStyle/>
          <a:p>
            <a:endParaRPr lang="en-US">
              <a:solidFill>
                <a:srgbClr val="002060"/>
              </a:solidFill>
            </a:endParaRPr>
          </a:p>
        </p:txBody>
      </p:sp>
      <p:sp>
        <p:nvSpPr>
          <p:cNvPr id="16" name="Shape 14"/>
          <p:cNvSpPr/>
          <p:nvPr/>
        </p:nvSpPr>
        <p:spPr>
          <a:xfrm>
            <a:off x="7072789" y="4640580"/>
            <a:ext cx="484823" cy="484823"/>
          </a:xfrm>
          <a:prstGeom prst="roundRect">
            <a:avLst>
              <a:gd name="adj" fmla="val 18667"/>
            </a:avLst>
          </a:prstGeom>
          <a:solidFill>
            <a:srgbClr val="F7EDD4"/>
          </a:solidFill>
          <a:ln w="7620">
            <a:solidFill>
              <a:srgbClr val="DDD3BA"/>
            </a:solidFill>
            <a:prstDash val="solid"/>
          </a:ln>
        </p:spPr>
        <p:txBody>
          <a:bodyPr/>
          <a:lstStyle/>
          <a:p>
            <a:endParaRPr lang="en-US">
              <a:solidFill>
                <a:srgbClr val="002060"/>
              </a:solidFill>
            </a:endParaRPr>
          </a:p>
        </p:txBody>
      </p:sp>
      <p:sp>
        <p:nvSpPr>
          <p:cNvPr id="17" name="Text 15"/>
          <p:cNvSpPr/>
          <p:nvPr/>
        </p:nvSpPr>
        <p:spPr>
          <a:xfrm>
            <a:off x="7153632" y="4681002"/>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002060"/>
                </a:solidFill>
                <a:latin typeface="Libre Baskerville" pitchFamily="34" charset="0"/>
                <a:ea typeface="Libre Baskerville" pitchFamily="34" charset="-122"/>
                <a:cs typeface="Libre Baskerville" pitchFamily="34" charset="-120"/>
              </a:rPr>
              <a:t>3</a:t>
            </a:r>
            <a:endParaRPr lang="en-US" sz="2500" dirty="0">
              <a:solidFill>
                <a:srgbClr val="002060"/>
              </a:solidFill>
            </a:endParaRPr>
          </a:p>
        </p:txBody>
      </p:sp>
      <p:sp>
        <p:nvSpPr>
          <p:cNvPr id="18" name="Text 16"/>
          <p:cNvSpPr/>
          <p:nvPr/>
        </p:nvSpPr>
        <p:spPr>
          <a:xfrm>
            <a:off x="3544253" y="4714637"/>
            <a:ext cx="2693551" cy="336590"/>
          </a:xfrm>
          <a:prstGeom prst="rect">
            <a:avLst/>
          </a:prstGeom>
          <a:noFill/>
          <a:ln/>
        </p:spPr>
        <p:txBody>
          <a:bodyPr wrap="none" lIns="0" tIns="0" rIns="0" bIns="0" rtlCol="0" anchor="t"/>
          <a:lstStyle/>
          <a:p>
            <a:pPr marL="0" indent="0" algn="r">
              <a:lnSpc>
                <a:spcPts val="2650"/>
              </a:lnSpc>
              <a:buNone/>
            </a:pPr>
            <a:r>
              <a:rPr lang="en-US" sz="2100" dirty="0">
                <a:solidFill>
                  <a:srgbClr val="002060"/>
                </a:solidFill>
                <a:latin typeface="Libre Baskerville" pitchFamily="34" charset="0"/>
                <a:ea typeface="Libre Baskerville" pitchFamily="34" charset="-122"/>
                <a:cs typeface="Libre Baskerville" pitchFamily="34" charset="-120"/>
              </a:rPr>
              <a:t>Week 13 (Mar 23):</a:t>
            </a:r>
            <a:endParaRPr lang="en-US" sz="2100" dirty="0">
              <a:solidFill>
                <a:srgbClr val="002060"/>
              </a:solidFill>
            </a:endParaRPr>
          </a:p>
        </p:txBody>
      </p:sp>
      <p:sp>
        <p:nvSpPr>
          <p:cNvPr id="19" name="Text 17"/>
          <p:cNvSpPr/>
          <p:nvPr/>
        </p:nvSpPr>
        <p:spPr>
          <a:xfrm>
            <a:off x="793790" y="5180409"/>
            <a:ext cx="5444014" cy="689610"/>
          </a:xfrm>
          <a:prstGeom prst="rect">
            <a:avLst/>
          </a:prstGeom>
          <a:noFill/>
          <a:ln/>
        </p:spPr>
        <p:txBody>
          <a:bodyPr wrap="square" lIns="0" tIns="0" rIns="0" bIns="0" rtlCol="0" anchor="t"/>
          <a:lstStyle/>
          <a:p>
            <a:pPr marL="0" indent="0" algn="r">
              <a:lnSpc>
                <a:spcPts val="2700"/>
              </a:lnSpc>
              <a:buNone/>
            </a:pPr>
            <a:r>
              <a:rPr lang="en-US" sz="1650" dirty="0">
                <a:solidFill>
                  <a:srgbClr val="002060"/>
                </a:solidFill>
                <a:latin typeface="DM Sans" pitchFamily="34" charset="0"/>
                <a:ea typeface="DM Sans" pitchFamily="34" charset="-122"/>
                <a:cs typeface="DM Sans" pitchFamily="34" charset="-120"/>
              </a:rPr>
              <a:t>Emergency Declarations and new Post-COVID Delivery Standards implemented.</a:t>
            </a:r>
            <a:endParaRPr lang="en-US" sz="1650" dirty="0">
              <a:solidFill>
                <a:srgbClr val="002060"/>
              </a:solidFill>
            </a:endParaRPr>
          </a:p>
        </p:txBody>
      </p:sp>
      <p:sp>
        <p:nvSpPr>
          <p:cNvPr id="20" name="Shape 18"/>
          <p:cNvSpPr/>
          <p:nvPr/>
        </p:nvSpPr>
        <p:spPr>
          <a:xfrm>
            <a:off x="7527131" y="5982176"/>
            <a:ext cx="646390" cy="30480"/>
          </a:xfrm>
          <a:prstGeom prst="roundRect">
            <a:avLst>
              <a:gd name="adj" fmla="val 296930"/>
            </a:avLst>
          </a:prstGeom>
          <a:solidFill>
            <a:srgbClr val="DDD3BA"/>
          </a:solidFill>
          <a:ln/>
        </p:spPr>
        <p:txBody>
          <a:bodyPr/>
          <a:lstStyle/>
          <a:p>
            <a:endParaRPr lang="en-US">
              <a:solidFill>
                <a:srgbClr val="002060"/>
              </a:solidFill>
            </a:endParaRPr>
          </a:p>
        </p:txBody>
      </p:sp>
      <p:sp>
        <p:nvSpPr>
          <p:cNvPr id="21" name="Shape 19"/>
          <p:cNvSpPr/>
          <p:nvPr/>
        </p:nvSpPr>
        <p:spPr>
          <a:xfrm>
            <a:off x="7072789" y="5755005"/>
            <a:ext cx="484823" cy="484823"/>
          </a:xfrm>
          <a:prstGeom prst="roundRect">
            <a:avLst>
              <a:gd name="adj" fmla="val 18667"/>
            </a:avLst>
          </a:prstGeom>
          <a:solidFill>
            <a:srgbClr val="F7EDD4"/>
          </a:solidFill>
          <a:ln w="7620">
            <a:solidFill>
              <a:srgbClr val="DDD3BA"/>
            </a:solidFill>
            <a:prstDash val="solid"/>
          </a:ln>
        </p:spPr>
        <p:txBody>
          <a:bodyPr/>
          <a:lstStyle/>
          <a:p>
            <a:endParaRPr lang="en-US">
              <a:solidFill>
                <a:srgbClr val="002060"/>
              </a:solidFill>
            </a:endParaRPr>
          </a:p>
        </p:txBody>
      </p:sp>
      <p:sp>
        <p:nvSpPr>
          <p:cNvPr id="22" name="Text 20"/>
          <p:cNvSpPr/>
          <p:nvPr/>
        </p:nvSpPr>
        <p:spPr>
          <a:xfrm>
            <a:off x="7153632" y="5795427"/>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002060"/>
                </a:solidFill>
                <a:latin typeface="Libre Baskerville" pitchFamily="34" charset="0"/>
                <a:ea typeface="Libre Baskerville" pitchFamily="34" charset="-122"/>
                <a:cs typeface="Libre Baskerville" pitchFamily="34" charset="-120"/>
              </a:rPr>
              <a:t>4</a:t>
            </a:r>
            <a:endParaRPr lang="en-US" sz="2500" dirty="0">
              <a:solidFill>
                <a:srgbClr val="002060"/>
              </a:solidFill>
            </a:endParaRPr>
          </a:p>
        </p:txBody>
      </p:sp>
      <p:sp>
        <p:nvSpPr>
          <p:cNvPr id="23" name="Text 21"/>
          <p:cNvSpPr/>
          <p:nvPr/>
        </p:nvSpPr>
        <p:spPr>
          <a:xfrm>
            <a:off x="8392597" y="5829062"/>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002060"/>
                </a:solidFill>
                <a:latin typeface="Libre Baskerville" pitchFamily="34" charset="0"/>
                <a:ea typeface="Libre Baskerville" pitchFamily="34" charset="-122"/>
                <a:cs typeface="Libre Baskerville" pitchFamily="34" charset="-120"/>
              </a:rPr>
              <a:t>Week 15 (Apr 6):</a:t>
            </a:r>
            <a:endParaRPr lang="en-US" sz="2100" dirty="0">
              <a:solidFill>
                <a:srgbClr val="002060"/>
              </a:solidFill>
            </a:endParaRPr>
          </a:p>
        </p:txBody>
      </p:sp>
      <p:sp>
        <p:nvSpPr>
          <p:cNvPr id="24" name="Text 22"/>
          <p:cNvSpPr/>
          <p:nvPr/>
        </p:nvSpPr>
        <p:spPr>
          <a:xfrm>
            <a:off x="8392597" y="6294834"/>
            <a:ext cx="5444014" cy="689610"/>
          </a:xfrm>
          <a:prstGeom prst="rect">
            <a:avLst/>
          </a:prstGeom>
          <a:noFill/>
          <a:ln/>
        </p:spPr>
        <p:txBody>
          <a:bodyPr wrap="square" lIns="0" tIns="0" rIns="0" bIns="0" rtlCol="0" anchor="t"/>
          <a:lstStyle/>
          <a:p>
            <a:pPr marL="0" indent="0" algn="l">
              <a:lnSpc>
                <a:spcPts val="2700"/>
              </a:lnSpc>
              <a:buNone/>
            </a:pPr>
            <a:r>
              <a:rPr lang="en-US" sz="1650" dirty="0">
                <a:solidFill>
                  <a:srgbClr val="002060"/>
                </a:solidFill>
                <a:latin typeface="DM Sans" pitchFamily="34" charset="0"/>
                <a:ea typeface="DM Sans" pitchFamily="34" charset="-122"/>
                <a:cs typeface="DM Sans" pitchFamily="34" charset="-120"/>
              </a:rPr>
              <a:t>Government Income Support (e.g., CERB) programs launched. And for ABC, 1.5m parcels delivered in week 15 and 2m in week 16 indicating sustained increase in business and increasing disparity with same period 2019. </a:t>
            </a:r>
            <a:endParaRPr lang="en-US" sz="1650" dirty="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A8B98C-CA67-3493-AE6A-1D1017CD201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0BA1D1-9074-3CBA-2584-F851BA94CD17}"/>
              </a:ext>
            </a:extLst>
          </p:cNvPr>
          <p:cNvSpPr txBox="1"/>
          <p:nvPr/>
        </p:nvSpPr>
        <p:spPr>
          <a:xfrm>
            <a:off x="7525267" y="2397212"/>
            <a:ext cx="6900172" cy="3477875"/>
          </a:xfrm>
          <a:prstGeom prst="rect">
            <a:avLst/>
          </a:prstGeom>
          <a:noFill/>
        </p:spPr>
        <p:txBody>
          <a:bodyPr wrap="square" rtlCol="0">
            <a:spAutoFit/>
          </a:bodyPr>
          <a:lstStyle/>
          <a:p>
            <a:endParaRPr lang="en-US" sz="2000" b="1" dirty="0">
              <a:solidFill>
                <a:srgbClr val="002060"/>
              </a:solidFill>
              <a:latin typeface="DM Sans" pitchFamily="2" charset="0"/>
            </a:endParaRPr>
          </a:p>
          <a:p>
            <a:r>
              <a:rPr lang="en-US" sz="2000" b="1" dirty="0">
                <a:solidFill>
                  <a:srgbClr val="002060"/>
                </a:solidFill>
                <a:latin typeface="DM Sans" pitchFamily="2" charset="0"/>
              </a:rPr>
              <a:t>Volume Surge</a:t>
            </a:r>
            <a:r>
              <a:rPr lang="en-US" sz="2000" dirty="0">
                <a:solidFill>
                  <a:srgbClr val="002060"/>
                </a:solidFill>
                <a:latin typeface="DM Sans" pitchFamily="2" charset="0"/>
              </a:rPr>
              <a:t>: 2020 weekly volumes were consistently higher than 2019 during peak season, confirming that COVID-19 significantly increased peak season parcel demand. Total 2020 peak volume stood at 18.1m as against 2019 volume of 15.4 (17% growth)</a:t>
            </a:r>
          </a:p>
          <a:p>
            <a:endParaRPr lang="en-US" sz="2000" dirty="0">
              <a:solidFill>
                <a:srgbClr val="002060"/>
              </a:solidFill>
              <a:latin typeface="DM Sans" pitchFamily="2" charset="0"/>
            </a:endParaRPr>
          </a:p>
          <a:p>
            <a:r>
              <a:rPr lang="en-US" sz="2000" b="1" dirty="0">
                <a:solidFill>
                  <a:srgbClr val="002060"/>
                </a:solidFill>
                <a:latin typeface="DM Sans" pitchFamily="2" charset="0"/>
              </a:rPr>
              <a:t>Strategic Insight</a:t>
            </a:r>
            <a:r>
              <a:rPr lang="en-US" sz="2000" dirty="0">
                <a:solidFill>
                  <a:srgbClr val="002060"/>
                </a:solidFill>
                <a:latin typeface="DM Sans" pitchFamily="2" charset="0"/>
              </a:rPr>
              <a:t>: ABC should expect a higher baseline post-pandemic due to accelerated customer habit formation (Shift to online shopping) </a:t>
            </a:r>
          </a:p>
          <a:p>
            <a:endParaRPr lang="en-US" sz="2000" dirty="0">
              <a:solidFill>
                <a:srgbClr val="002060"/>
              </a:solidFill>
              <a:latin typeface="DM Sans" pitchFamily="2" charset="0"/>
            </a:endParaRPr>
          </a:p>
        </p:txBody>
      </p:sp>
      <p:sp>
        <p:nvSpPr>
          <p:cNvPr id="2" name="TextBox 1">
            <a:extLst>
              <a:ext uri="{FF2B5EF4-FFF2-40B4-BE49-F238E27FC236}">
                <a16:creationId xmlns:a16="http://schemas.microsoft.com/office/drawing/2014/main" id="{FF34EB03-7918-A0EF-D43C-C4DF19B7C721}"/>
              </a:ext>
            </a:extLst>
          </p:cNvPr>
          <p:cNvSpPr txBox="1"/>
          <p:nvPr/>
        </p:nvSpPr>
        <p:spPr>
          <a:xfrm>
            <a:off x="684042" y="277409"/>
            <a:ext cx="10059164" cy="638636"/>
          </a:xfrm>
          <a:prstGeom prst="rect">
            <a:avLst/>
          </a:prstGeom>
          <a:noFill/>
        </p:spPr>
        <p:txBody>
          <a:bodyPr wrap="none" rtlCol="0">
            <a:spAutoFit/>
          </a:bodyPr>
          <a:lstStyle/>
          <a:p>
            <a:r>
              <a:rPr lang="en-US" sz="3550" b="1" dirty="0">
                <a:solidFill>
                  <a:srgbClr val="002060"/>
                </a:solidFill>
                <a:latin typeface="Libre Baskerville" pitchFamily="34" charset="0"/>
              </a:rPr>
              <a:t>COVID-19’s Impact on 2020 Peak Season</a:t>
            </a:r>
          </a:p>
        </p:txBody>
      </p:sp>
      <p:pic>
        <p:nvPicPr>
          <p:cNvPr id="6" name="Picture 5" descr="A graph of a number of blue and orange squares&#10;&#10;AI-generated content may be incorrect.">
            <a:extLst>
              <a:ext uri="{FF2B5EF4-FFF2-40B4-BE49-F238E27FC236}">
                <a16:creationId xmlns:a16="http://schemas.microsoft.com/office/drawing/2014/main" id="{A5942A41-4282-E841-F9A3-F8290C2F14F7}"/>
              </a:ext>
            </a:extLst>
          </p:cNvPr>
          <p:cNvPicPr>
            <a:picLocks noChangeAspect="1"/>
          </p:cNvPicPr>
          <p:nvPr/>
        </p:nvPicPr>
        <p:blipFill>
          <a:blip r:embed="rId2"/>
          <a:stretch>
            <a:fillRect/>
          </a:stretch>
        </p:blipFill>
        <p:spPr>
          <a:xfrm>
            <a:off x="313151" y="1314009"/>
            <a:ext cx="6791984" cy="4989688"/>
          </a:xfrm>
          <a:prstGeom prst="rect">
            <a:avLst/>
          </a:prstGeom>
        </p:spPr>
      </p:pic>
    </p:spTree>
    <p:extLst>
      <p:ext uri="{BB962C8B-B14F-4D97-AF65-F5344CB8AC3E}">
        <p14:creationId xmlns:p14="http://schemas.microsoft.com/office/powerpoint/2010/main" val="1400347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510960-F2C1-D06A-FC2A-8EBE84EC2DD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FFABA4-17A9-52D3-D3F2-C53FF6F40E0D}"/>
              </a:ext>
            </a:extLst>
          </p:cNvPr>
          <p:cNvSpPr txBox="1"/>
          <p:nvPr/>
        </p:nvSpPr>
        <p:spPr>
          <a:xfrm>
            <a:off x="458268" y="328186"/>
            <a:ext cx="11469807" cy="638636"/>
          </a:xfrm>
          <a:prstGeom prst="rect">
            <a:avLst/>
          </a:prstGeom>
          <a:noFill/>
        </p:spPr>
        <p:txBody>
          <a:bodyPr wrap="none" rtlCol="0">
            <a:spAutoFit/>
          </a:bodyPr>
          <a:lstStyle/>
          <a:p>
            <a:r>
              <a:rPr lang="en-US" sz="3550" b="1" dirty="0">
                <a:solidFill>
                  <a:srgbClr val="002060"/>
                </a:solidFill>
                <a:latin typeface="Libre Baskerville" pitchFamily="34" charset="0"/>
              </a:rPr>
              <a:t>Pandemic Effects Across Customer Segments </a:t>
            </a:r>
          </a:p>
        </p:txBody>
      </p:sp>
      <p:sp>
        <p:nvSpPr>
          <p:cNvPr id="6" name="Rectangle 5">
            <a:extLst>
              <a:ext uri="{FF2B5EF4-FFF2-40B4-BE49-F238E27FC236}">
                <a16:creationId xmlns:a16="http://schemas.microsoft.com/office/drawing/2014/main" id="{91A47D82-1C45-34A2-6595-1000DB0CEAAA}"/>
              </a:ext>
            </a:extLst>
          </p:cNvPr>
          <p:cNvSpPr/>
          <p:nvPr/>
        </p:nvSpPr>
        <p:spPr>
          <a:xfrm>
            <a:off x="9010028" y="1312812"/>
            <a:ext cx="5233736" cy="6424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002060"/>
                </a:solidFill>
                <a:latin typeface="DM Sans" pitchFamily="2" charset="0"/>
              </a:rPr>
              <a:t>Large Customers</a:t>
            </a:r>
            <a:r>
              <a:rPr lang="en-US" sz="2000" dirty="0">
                <a:solidFill>
                  <a:srgbClr val="002060"/>
                </a:solidFill>
                <a:latin typeface="DM Sans" pitchFamily="2" charset="0"/>
              </a:rPr>
              <a:t>: the highest percentage growth (+47%), confirming volume acquisition in the higher-tier segments.</a:t>
            </a:r>
          </a:p>
          <a:p>
            <a:endParaRPr lang="en-US" sz="2000" dirty="0">
              <a:solidFill>
                <a:srgbClr val="002060"/>
              </a:solidFill>
              <a:latin typeface="DM Sans" pitchFamily="2" charset="0"/>
            </a:endParaRPr>
          </a:p>
          <a:p>
            <a:endParaRPr lang="en-US" sz="2000" dirty="0">
              <a:solidFill>
                <a:srgbClr val="002060"/>
              </a:solidFill>
              <a:latin typeface="DM Sans" pitchFamily="2" charset="0"/>
            </a:endParaRPr>
          </a:p>
          <a:p>
            <a:r>
              <a:rPr lang="en-US" sz="2000" b="1" dirty="0">
                <a:solidFill>
                  <a:srgbClr val="002060"/>
                </a:solidFill>
                <a:latin typeface="DM Sans" pitchFamily="2" charset="0"/>
              </a:rPr>
              <a:t>Medium &amp; Enterprise Customers</a:t>
            </a:r>
            <a:r>
              <a:rPr lang="en-US" sz="2000" dirty="0">
                <a:solidFill>
                  <a:srgbClr val="002060"/>
                </a:solidFill>
                <a:latin typeface="DM Sans" pitchFamily="2" charset="0"/>
              </a:rPr>
              <a:t>: showed significant growth (34% and 17% respectively).</a:t>
            </a:r>
          </a:p>
          <a:p>
            <a:endParaRPr lang="en-US" sz="2000" dirty="0">
              <a:solidFill>
                <a:srgbClr val="002060"/>
              </a:solidFill>
              <a:latin typeface="DM Sans" pitchFamily="2" charset="0"/>
            </a:endParaRPr>
          </a:p>
          <a:p>
            <a:r>
              <a:rPr lang="en-US" sz="2000" b="1" dirty="0">
                <a:solidFill>
                  <a:srgbClr val="002060"/>
                </a:solidFill>
                <a:latin typeface="DM Sans" pitchFamily="2" charset="0"/>
              </a:rPr>
              <a:t>Small Customers</a:t>
            </a:r>
            <a:r>
              <a:rPr lang="en-US" sz="2000" dirty="0">
                <a:solidFill>
                  <a:srgbClr val="002060"/>
                </a:solidFill>
                <a:latin typeface="DM Sans" pitchFamily="2" charset="0"/>
              </a:rPr>
              <a:t>: Experienced a substantial decline (-15.96%), suggesting they were disproportionately impacted by the pandemic (closures/consolidation).</a:t>
            </a:r>
          </a:p>
          <a:p>
            <a:endParaRPr lang="en-US" sz="2000" dirty="0">
              <a:solidFill>
                <a:srgbClr val="002060"/>
              </a:solidFill>
              <a:latin typeface="DM Sans" pitchFamily="2" charset="0"/>
            </a:endParaRPr>
          </a:p>
          <a:p>
            <a:r>
              <a:rPr lang="en-US" sz="2000" dirty="0">
                <a:solidFill>
                  <a:srgbClr val="002060"/>
                </a:solidFill>
                <a:latin typeface="DM Sans" pitchFamily="2" charset="0"/>
              </a:rPr>
              <a:t>A new segment of customer emerged in 2020 which we categorized as others. They had volumes lower than 1k and they contributed 9.1% of 2020 volumes.</a:t>
            </a:r>
          </a:p>
        </p:txBody>
      </p:sp>
      <p:pic>
        <p:nvPicPr>
          <p:cNvPr id="15" name="Picture 14">
            <a:extLst>
              <a:ext uri="{FF2B5EF4-FFF2-40B4-BE49-F238E27FC236}">
                <a16:creationId xmlns:a16="http://schemas.microsoft.com/office/drawing/2014/main" id="{2027D207-41EA-27E9-ED9F-8D6ED5017409}"/>
              </a:ext>
            </a:extLst>
          </p:cNvPr>
          <p:cNvPicPr>
            <a:picLocks noChangeAspect="1"/>
          </p:cNvPicPr>
          <p:nvPr/>
        </p:nvPicPr>
        <p:blipFill>
          <a:blip r:embed="rId2"/>
          <a:stretch>
            <a:fillRect/>
          </a:stretch>
        </p:blipFill>
        <p:spPr>
          <a:xfrm>
            <a:off x="675983" y="2321754"/>
            <a:ext cx="7872932" cy="3102861"/>
          </a:xfrm>
          <a:prstGeom prst="rect">
            <a:avLst/>
          </a:prstGeom>
        </p:spPr>
      </p:pic>
    </p:spTree>
    <p:extLst>
      <p:ext uri="{BB962C8B-B14F-4D97-AF65-F5344CB8AC3E}">
        <p14:creationId xmlns:p14="http://schemas.microsoft.com/office/powerpoint/2010/main" val="2787815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66BBBE-25BF-A8F9-92D4-9E28E1FBA7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1B49C1-8A36-3C3E-6987-43953D5D15EC}"/>
              </a:ext>
            </a:extLst>
          </p:cNvPr>
          <p:cNvSpPr txBox="1"/>
          <p:nvPr/>
        </p:nvSpPr>
        <p:spPr>
          <a:xfrm>
            <a:off x="393731" y="275468"/>
            <a:ext cx="13135327" cy="638636"/>
          </a:xfrm>
          <a:prstGeom prst="rect">
            <a:avLst/>
          </a:prstGeom>
          <a:noFill/>
        </p:spPr>
        <p:txBody>
          <a:bodyPr wrap="none" rtlCol="0">
            <a:spAutoFit/>
          </a:bodyPr>
          <a:lstStyle/>
          <a:p>
            <a:r>
              <a:rPr lang="en-US" sz="3550" b="1" dirty="0">
                <a:solidFill>
                  <a:srgbClr val="002060"/>
                </a:solidFill>
                <a:latin typeface="Libre Baskerville" pitchFamily="34" charset="0"/>
              </a:rPr>
              <a:t>Customer Group Performance Status Breakdown (1/2)</a:t>
            </a:r>
          </a:p>
        </p:txBody>
      </p:sp>
      <p:pic>
        <p:nvPicPr>
          <p:cNvPr id="8" name="Picture 7">
            <a:extLst>
              <a:ext uri="{FF2B5EF4-FFF2-40B4-BE49-F238E27FC236}">
                <a16:creationId xmlns:a16="http://schemas.microsoft.com/office/drawing/2014/main" id="{1B6AA30E-76C1-1122-6587-9E7809C15E79}"/>
              </a:ext>
            </a:extLst>
          </p:cNvPr>
          <p:cNvPicPr>
            <a:picLocks noChangeAspect="1"/>
          </p:cNvPicPr>
          <p:nvPr/>
        </p:nvPicPr>
        <p:blipFill>
          <a:blip r:embed="rId2"/>
          <a:stretch>
            <a:fillRect/>
          </a:stretch>
        </p:blipFill>
        <p:spPr>
          <a:xfrm>
            <a:off x="393731" y="2573123"/>
            <a:ext cx="8549300" cy="3083354"/>
          </a:xfrm>
          <a:prstGeom prst="rect">
            <a:avLst/>
          </a:prstGeom>
        </p:spPr>
      </p:pic>
      <p:sp>
        <p:nvSpPr>
          <p:cNvPr id="9" name="TextBox 8">
            <a:extLst>
              <a:ext uri="{FF2B5EF4-FFF2-40B4-BE49-F238E27FC236}">
                <a16:creationId xmlns:a16="http://schemas.microsoft.com/office/drawing/2014/main" id="{3A5984BB-5C7A-9D5D-0403-8D54970FD410}"/>
              </a:ext>
            </a:extLst>
          </p:cNvPr>
          <p:cNvSpPr txBox="1"/>
          <p:nvPr/>
        </p:nvSpPr>
        <p:spPr>
          <a:xfrm>
            <a:off x="9303657" y="1634476"/>
            <a:ext cx="5117667" cy="5909310"/>
          </a:xfrm>
          <a:prstGeom prst="rect">
            <a:avLst/>
          </a:prstGeom>
          <a:noFill/>
        </p:spPr>
        <p:txBody>
          <a:bodyPr wrap="square" rtlCol="0">
            <a:spAutoFit/>
          </a:bodyPr>
          <a:lstStyle/>
          <a:p>
            <a:r>
              <a:rPr lang="en-US" b="1" dirty="0">
                <a:solidFill>
                  <a:srgbClr val="002060"/>
                </a:solidFill>
                <a:latin typeface="DM Sans" pitchFamily="2" charset="0"/>
              </a:rPr>
              <a:t>Key Observations</a:t>
            </a:r>
          </a:p>
          <a:p>
            <a:endParaRPr lang="en-US" dirty="0">
              <a:solidFill>
                <a:srgbClr val="002060"/>
              </a:solidFill>
              <a:latin typeface="DM Sans" pitchFamily="2" charset="0"/>
            </a:endParaRPr>
          </a:p>
          <a:p>
            <a:r>
              <a:rPr lang="en-US" b="1" dirty="0">
                <a:solidFill>
                  <a:srgbClr val="002060"/>
                </a:solidFill>
                <a:latin typeface="DM Sans" pitchFamily="2" charset="0"/>
              </a:rPr>
              <a:t>Enterprise Customers</a:t>
            </a:r>
            <a:endParaRPr lang="en-US" dirty="0">
              <a:solidFill>
                <a:srgbClr val="002060"/>
              </a:solidFill>
              <a:latin typeface="DM Sans" pitchFamily="2" charset="0"/>
            </a:endParaRPr>
          </a:p>
          <a:p>
            <a:pPr lvl="1"/>
            <a:r>
              <a:rPr lang="en-US" dirty="0">
                <a:solidFill>
                  <a:srgbClr val="002060"/>
                </a:solidFill>
                <a:latin typeface="DM Sans" pitchFamily="2" charset="0"/>
              </a:rPr>
              <a:t>10 high growth, reflecting significant parcel increases. 3 declined and 1 stable.</a:t>
            </a:r>
          </a:p>
          <a:p>
            <a:pPr lvl="1"/>
            <a:endParaRPr lang="en-US" dirty="0">
              <a:solidFill>
                <a:srgbClr val="002060"/>
              </a:solidFill>
              <a:latin typeface="DM Sans" pitchFamily="2" charset="0"/>
            </a:endParaRPr>
          </a:p>
          <a:p>
            <a:r>
              <a:rPr lang="en-US" b="1" dirty="0">
                <a:solidFill>
                  <a:srgbClr val="002060"/>
                </a:solidFill>
                <a:latin typeface="DM Sans" pitchFamily="2" charset="0"/>
              </a:rPr>
              <a:t>Large Customers</a:t>
            </a:r>
            <a:endParaRPr lang="en-US" dirty="0">
              <a:solidFill>
                <a:srgbClr val="002060"/>
              </a:solidFill>
              <a:latin typeface="DM Sans" pitchFamily="2" charset="0"/>
            </a:endParaRPr>
          </a:p>
          <a:p>
            <a:pPr lvl="1"/>
            <a:r>
              <a:rPr lang="en-US" dirty="0">
                <a:solidFill>
                  <a:srgbClr val="002060"/>
                </a:solidFill>
                <a:latin typeface="DM Sans" pitchFamily="2" charset="0"/>
              </a:rPr>
              <a:t>19 high growth, 1 declined, 2 stable.</a:t>
            </a:r>
          </a:p>
          <a:p>
            <a:pPr lvl="1"/>
            <a:endParaRPr lang="en-US" dirty="0">
              <a:solidFill>
                <a:srgbClr val="002060"/>
              </a:solidFill>
              <a:latin typeface="DM Sans" pitchFamily="2" charset="0"/>
            </a:endParaRPr>
          </a:p>
          <a:p>
            <a:r>
              <a:rPr lang="en-US" b="1" dirty="0">
                <a:solidFill>
                  <a:srgbClr val="002060"/>
                </a:solidFill>
                <a:latin typeface="DM Sans" pitchFamily="2" charset="0"/>
              </a:rPr>
              <a:t>Medium Customers</a:t>
            </a:r>
            <a:endParaRPr lang="en-US" dirty="0">
              <a:solidFill>
                <a:srgbClr val="002060"/>
              </a:solidFill>
              <a:latin typeface="DM Sans" pitchFamily="2" charset="0"/>
            </a:endParaRPr>
          </a:p>
          <a:p>
            <a:pPr lvl="1"/>
            <a:r>
              <a:rPr lang="en-US" dirty="0">
                <a:solidFill>
                  <a:srgbClr val="002060"/>
                </a:solidFill>
                <a:latin typeface="DM Sans" pitchFamily="2" charset="0"/>
              </a:rPr>
              <a:t>171 high growth, 44 declined, 19 stable.</a:t>
            </a:r>
          </a:p>
          <a:p>
            <a:pPr lvl="1"/>
            <a:endParaRPr lang="en-US" dirty="0">
              <a:solidFill>
                <a:srgbClr val="002060"/>
              </a:solidFill>
              <a:latin typeface="DM Sans" pitchFamily="2" charset="0"/>
            </a:endParaRPr>
          </a:p>
          <a:p>
            <a:r>
              <a:rPr lang="en-US" b="1" dirty="0">
                <a:solidFill>
                  <a:srgbClr val="002060"/>
                </a:solidFill>
                <a:latin typeface="DM Sans" pitchFamily="2" charset="0"/>
              </a:rPr>
              <a:t>Small Customers</a:t>
            </a:r>
            <a:endParaRPr lang="en-US" dirty="0">
              <a:solidFill>
                <a:srgbClr val="002060"/>
              </a:solidFill>
              <a:latin typeface="DM Sans" pitchFamily="2" charset="0"/>
            </a:endParaRPr>
          </a:p>
          <a:p>
            <a:pPr lvl="1"/>
            <a:r>
              <a:rPr lang="en-US" dirty="0">
                <a:solidFill>
                  <a:srgbClr val="002060"/>
                </a:solidFill>
                <a:latin typeface="DM Sans" pitchFamily="2" charset="0"/>
              </a:rPr>
              <a:t>386 high growth, 54 stable.</a:t>
            </a:r>
          </a:p>
          <a:p>
            <a:pPr lvl="1"/>
            <a:r>
              <a:rPr lang="en-US" dirty="0">
                <a:solidFill>
                  <a:srgbClr val="002060"/>
                </a:solidFill>
                <a:latin typeface="DM Sans" pitchFamily="2" charset="0"/>
              </a:rPr>
              <a:t>241 declined, showing vulnerability in smaller accounts.</a:t>
            </a:r>
          </a:p>
          <a:p>
            <a:pPr lvl="1"/>
            <a:endParaRPr lang="en-US" dirty="0">
              <a:solidFill>
                <a:srgbClr val="002060"/>
              </a:solidFill>
              <a:latin typeface="DM Sans" pitchFamily="2" charset="0"/>
            </a:endParaRPr>
          </a:p>
          <a:p>
            <a:r>
              <a:rPr lang="en-US" b="1" dirty="0">
                <a:solidFill>
                  <a:srgbClr val="002060"/>
                </a:solidFill>
                <a:latin typeface="DM Sans" pitchFamily="2" charset="0"/>
              </a:rPr>
              <a:t>Small → Other Transition</a:t>
            </a:r>
            <a:endParaRPr lang="en-US" dirty="0">
              <a:solidFill>
                <a:srgbClr val="002060"/>
              </a:solidFill>
              <a:latin typeface="DM Sans" pitchFamily="2" charset="0"/>
            </a:endParaRPr>
          </a:p>
          <a:p>
            <a:pPr lvl="1"/>
            <a:r>
              <a:rPr lang="en-US" dirty="0">
                <a:solidFill>
                  <a:srgbClr val="002060"/>
                </a:solidFill>
                <a:latin typeface="DM Sans" pitchFamily="2" charset="0"/>
              </a:rPr>
              <a:t>“Other” represents downgraded small customers.</a:t>
            </a:r>
          </a:p>
          <a:p>
            <a:pPr lvl="1"/>
            <a:r>
              <a:rPr lang="en-US" dirty="0">
                <a:solidFill>
                  <a:srgbClr val="002060"/>
                </a:solidFill>
                <a:latin typeface="DM Sans" pitchFamily="2" charset="0"/>
              </a:rPr>
              <a:t>84 declined, 11 lost.</a:t>
            </a:r>
          </a:p>
        </p:txBody>
      </p:sp>
    </p:spTree>
    <p:extLst>
      <p:ext uri="{BB962C8B-B14F-4D97-AF65-F5344CB8AC3E}">
        <p14:creationId xmlns:p14="http://schemas.microsoft.com/office/powerpoint/2010/main" val="2851167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with different colored bars&#10;&#10;AI-generated content may be incorrect.">
            <a:extLst>
              <a:ext uri="{FF2B5EF4-FFF2-40B4-BE49-F238E27FC236}">
                <a16:creationId xmlns:a16="http://schemas.microsoft.com/office/drawing/2014/main" id="{22F41AED-4CF6-44CB-58C0-172286B67851}"/>
              </a:ext>
            </a:extLst>
          </p:cNvPr>
          <p:cNvPicPr>
            <a:picLocks noChangeAspect="1"/>
          </p:cNvPicPr>
          <p:nvPr/>
        </p:nvPicPr>
        <p:blipFill>
          <a:blip r:embed="rId2"/>
          <a:stretch>
            <a:fillRect/>
          </a:stretch>
        </p:blipFill>
        <p:spPr>
          <a:xfrm>
            <a:off x="691445" y="1126452"/>
            <a:ext cx="10716025" cy="5541632"/>
          </a:xfrm>
          <a:prstGeom prst="rect">
            <a:avLst/>
          </a:prstGeom>
        </p:spPr>
      </p:pic>
      <p:sp>
        <p:nvSpPr>
          <p:cNvPr id="6" name="TextBox 5">
            <a:extLst>
              <a:ext uri="{FF2B5EF4-FFF2-40B4-BE49-F238E27FC236}">
                <a16:creationId xmlns:a16="http://schemas.microsoft.com/office/drawing/2014/main" id="{17E0553A-F36D-5B95-3A83-3D911359B57A}"/>
              </a:ext>
            </a:extLst>
          </p:cNvPr>
          <p:cNvSpPr txBox="1"/>
          <p:nvPr/>
        </p:nvSpPr>
        <p:spPr>
          <a:xfrm>
            <a:off x="9733548" y="1129187"/>
            <a:ext cx="4687776" cy="6740307"/>
          </a:xfrm>
          <a:prstGeom prst="rect">
            <a:avLst/>
          </a:prstGeom>
          <a:noFill/>
        </p:spPr>
        <p:txBody>
          <a:bodyPr wrap="square" rtlCol="0">
            <a:spAutoFit/>
          </a:bodyPr>
          <a:lstStyle/>
          <a:p>
            <a:r>
              <a:rPr lang="en-US" b="1" dirty="0">
                <a:solidFill>
                  <a:srgbClr val="002060"/>
                </a:solidFill>
                <a:latin typeface="DM Sans" pitchFamily="2" charset="0"/>
              </a:rPr>
              <a:t>Key Observations</a:t>
            </a:r>
          </a:p>
          <a:p>
            <a:endParaRPr lang="en-US" dirty="0">
              <a:solidFill>
                <a:srgbClr val="002060"/>
              </a:solidFill>
              <a:latin typeface="DM Sans" pitchFamily="2" charset="0"/>
            </a:endParaRPr>
          </a:p>
          <a:p>
            <a:r>
              <a:rPr lang="en-US" b="1" dirty="0">
                <a:solidFill>
                  <a:srgbClr val="002060"/>
                </a:solidFill>
                <a:latin typeface="DM Sans" pitchFamily="2" charset="0"/>
              </a:rPr>
              <a:t>Enterprise Customers</a:t>
            </a:r>
            <a:endParaRPr lang="en-US" dirty="0">
              <a:solidFill>
                <a:srgbClr val="002060"/>
              </a:solidFill>
              <a:latin typeface="DM Sans" pitchFamily="2" charset="0"/>
            </a:endParaRPr>
          </a:p>
          <a:p>
            <a:pPr lvl="1"/>
            <a:r>
              <a:rPr lang="en-US" dirty="0">
                <a:solidFill>
                  <a:srgbClr val="002060"/>
                </a:solidFill>
                <a:latin typeface="DM Sans" pitchFamily="2" charset="0"/>
              </a:rPr>
              <a:t>71.43% experienced high growth, reflecting significant parcel increases. 21.43% declined and 7.1% stable.</a:t>
            </a:r>
          </a:p>
          <a:p>
            <a:pPr lvl="1"/>
            <a:endParaRPr lang="en-US" dirty="0">
              <a:solidFill>
                <a:srgbClr val="002060"/>
              </a:solidFill>
              <a:latin typeface="DM Sans" pitchFamily="2" charset="0"/>
            </a:endParaRPr>
          </a:p>
          <a:p>
            <a:r>
              <a:rPr lang="en-US" b="1" dirty="0">
                <a:solidFill>
                  <a:srgbClr val="002060"/>
                </a:solidFill>
                <a:latin typeface="DM Sans" pitchFamily="2" charset="0"/>
              </a:rPr>
              <a:t>Large Customers</a:t>
            </a:r>
            <a:endParaRPr lang="en-US" dirty="0">
              <a:solidFill>
                <a:srgbClr val="002060"/>
              </a:solidFill>
              <a:latin typeface="DM Sans" pitchFamily="2" charset="0"/>
            </a:endParaRPr>
          </a:p>
          <a:p>
            <a:pPr lvl="1"/>
            <a:r>
              <a:rPr lang="en-US" dirty="0">
                <a:solidFill>
                  <a:srgbClr val="002060"/>
                </a:solidFill>
                <a:latin typeface="DM Sans" pitchFamily="2" charset="0"/>
              </a:rPr>
              <a:t>86.36% high growth, 4.55% declined, .09% stable.</a:t>
            </a:r>
          </a:p>
          <a:p>
            <a:pPr lvl="1"/>
            <a:endParaRPr lang="en-US" dirty="0">
              <a:solidFill>
                <a:srgbClr val="002060"/>
              </a:solidFill>
              <a:latin typeface="DM Sans" pitchFamily="2" charset="0"/>
            </a:endParaRPr>
          </a:p>
          <a:p>
            <a:r>
              <a:rPr lang="en-US" b="1" dirty="0">
                <a:solidFill>
                  <a:srgbClr val="002060"/>
                </a:solidFill>
                <a:latin typeface="DM Sans" pitchFamily="2" charset="0"/>
              </a:rPr>
              <a:t>Medium Customers</a:t>
            </a:r>
            <a:endParaRPr lang="en-US" dirty="0">
              <a:solidFill>
                <a:srgbClr val="002060"/>
              </a:solidFill>
              <a:latin typeface="DM Sans" pitchFamily="2" charset="0"/>
            </a:endParaRPr>
          </a:p>
          <a:p>
            <a:pPr lvl="1"/>
            <a:r>
              <a:rPr lang="en-US" dirty="0">
                <a:solidFill>
                  <a:srgbClr val="002060"/>
                </a:solidFill>
                <a:latin typeface="DM Sans" pitchFamily="2" charset="0"/>
              </a:rPr>
              <a:t>73.08% high growth, 18.8% declined, 8.12% stable.</a:t>
            </a:r>
          </a:p>
          <a:p>
            <a:pPr lvl="1"/>
            <a:endParaRPr lang="en-US" dirty="0">
              <a:solidFill>
                <a:srgbClr val="002060"/>
              </a:solidFill>
              <a:latin typeface="DM Sans" pitchFamily="2" charset="0"/>
            </a:endParaRPr>
          </a:p>
          <a:p>
            <a:r>
              <a:rPr lang="en-US" b="1" dirty="0">
                <a:solidFill>
                  <a:srgbClr val="002060"/>
                </a:solidFill>
                <a:latin typeface="DM Sans" pitchFamily="2" charset="0"/>
              </a:rPr>
              <a:t>Small → Other Transition</a:t>
            </a:r>
            <a:endParaRPr lang="en-US" dirty="0">
              <a:solidFill>
                <a:srgbClr val="002060"/>
              </a:solidFill>
              <a:latin typeface="DM Sans" pitchFamily="2" charset="0"/>
            </a:endParaRPr>
          </a:p>
          <a:p>
            <a:pPr lvl="1"/>
            <a:r>
              <a:rPr lang="en-US" dirty="0">
                <a:solidFill>
                  <a:srgbClr val="002060"/>
                </a:solidFill>
                <a:latin typeface="DM Sans" pitchFamily="2" charset="0"/>
              </a:rPr>
              <a:t>“Other” represents downgraded small customers.</a:t>
            </a:r>
          </a:p>
          <a:p>
            <a:pPr lvl="1"/>
            <a:r>
              <a:rPr lang="en-US" dirty="0">
                <a:solidFill>
                  <a:srgbClr val="002060"/>
                </a:solidFill>
                <a:latin typeface="DM Sans" pitchFamily="2" charset="0"/>
              </a:rPr>
              <a:t>88.42% declined, 11.58% lost.</a:t>
            </a:r>
          </a:p>
          <a:p>
            <a:pPr lvl="1"/>
            <a:endParaRPr lang="en-US" dirty="0">
              <a:solidFill>
                <a:srgbClr val="002060"/>
              </a:solidFill>
              <a:latin typeface="DM Sans" pitchFamily="2" charset="0"/>
            </a:endParaRPr>
          </a:p>
          <a:p>
            <a:r>
              <a:rPr lang="en-US" b="1" dirty="0">
                <a:solidFill>
                  <a:srgbClr val="002060"/>
                </a:solidFill>
                <a:latin typeface="DM Sans" pitchFamily="2" charset="0"/>
              </a:rPr>
              <a:t>Small Customers</a:t>
            </a:r>
            <a:endParaRPr lang="en-US" dirty="0">
              <a:solidFill>
                <a:srgbClr val="002060"/>
              </a:solidFill>
              <a:latin typeface="DM Sans" pitchFamily="2" charset="0"/>
            </a:endParaRPr>
          </a:p>
          <a:p>
            <a:pPr lvl="1"/>
            <a:r>
              <a:rPr lang="en-US" dirty="0">
                <a:solidFill>
                  <a:srgbClr val="002060"/>
                </a:solidFill>
                <a:latin typeface="DM Sans" pitchFamily="2" charset="0"/>
              </a:rPr>
              <a:t>56.68% high growth, 7.93% stable.</a:t>
            </a:r>
          </a:p>
          <a:p>
            <a:pPr lvl="1"/>
            <a:r>
              <a:rPr lang="en-US" dirty="0">
                <a:solidFill>
                  <a:srgbClr val="002060"/>
                </a:solidFill>
                <a:latin typeface="DM Sans" pitchFamily="2" charset="0"/>
              </a:rPr>
              <a:t>35.39% declined, showing vulnerability in smaller accounts.</a:t>
            </a:r>
          </a:p>
        </p:txBody>
      </p:sp>
      <p:sp>
        <p:nvSpPr>
          <p:cNvPr id="2" name="TextBox 1">
            <a:extLst>
              <a:ext uri="{FF2B5EF4-FFF2-40B4-BE49-F238E27FC236}">
                <a16:creationId xmlns:a16="http://schemas.microsoft.com/office/drawing/2014/main" id="{B545AB44-6D28-A7B1-9883-57D6F064C1B7}"/>
              </a:ext>
            </a:extLst>
          </p:cNvPr>
          <p:cNvSpPr txBox="1"/>
          <p:nvPr/>
        </p:nvSpPr>
        <p:spPr>
          <a:xfrm>
            <a:off x="464457" y="155014"/>
            <a:ext cx="13956867" cy="638636"/>
          </a:xfrm>
          <a:prstGeom prst="rect">
            <a:avLst/>
          </a:prstGeom>
          <a:noFill/>
        </p:spPr>
        <p:txBody>
          <a:bodyPr wrap="square" rtlCol="0">
            <a:spAutoFit/>
          </a:bodyPr>
          <a:lstStyle/>
          <a:p>
            <a:r>
              <a:rPr lang="en-US" sz="3550" b="1" dirty="0">
                <a:solidFill>
                  <a:srgbClr val="002060"/>
                </a:solidFill>
                <a:latin typeface="Libre Baskerville" pitchFamily="34" charset="0"/>
              </a:rPr>
              <a:t>Customer Group Performance Status Breakdown (2/2)</a:t>
            </a:r>
          </a:p>
        </p:txBody>
      </p:sp>
    </p:spTree>
    <p:extLst>
      <p:ext uri="{BB962C8B-B14F-4D97-AF65-F5344CB8AC3E}">
        <p14:creationId xmlns:p14="http://schemas.microsoft.com/office/powerpoint/2010/main" val="1968438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E6D5A3C-DEAB-9104-5F8C-D76AE2227319}"/>
              </a:ext>
            </a:extLst>
          </p:cNvPr>
          <p:cNvSpPr txBox="1"/>
          <p:nvPr/>
        </p:nvSpPr>
        <p:spPr>
          <a:xfrm>
            <a:off x="964504" y="0"/>
            <a:ext cx="11596444" cy="915635"/>
          </a:xfrm>
          <a:prstGeom prst="rect">
            <a:avLst/>
          </a:prstGeom>
          <a:noFill/>
        </p:spPr>
        <p:txBody>
          <a:bodyPr wrap="none" rtlCol="0">
            <a:spAutoFit/>
          </a:bodyPr>
          <a:lstStyle/>
          <a:p>
            <a:endParaRPr lang="en-US" b="1" dirty="0"/>
          </a:p>
          <a:p>
            <a:r>
              <a:rPr lang="en-US" sz="3550" b="1" dirty="0">
                <a:solidFill>
                  <a:srgbClr val="002060"/>
                </a:solidFill>
                <a:latin typeface="Libre Baskerville" pitchFamily="34" charset="0"/>
              </a:rPr>
              <a:t>Percentage of New &amp; Lost Customers by Group</a:t>
            </a:r>
          </a:p>
        </p:txBody>
      </p:sp>
      <p:sp>
        <p:nvSpPr>
          <p:cNvPr id="2" name="Rectangle 1">
            <a:extLst>
              <a:ext uri="{FF2B5EF4-FFF2-40B4-BE49-F238E27FC236}">
                <a16:creationId xmlns:a16="http://schemas.microsoft.com/office/drawing/2014/main" id="{5ACD0DF5-485A-F345-C2EA-F0D2CA6F0359}"/>
              </a:ext>
            </a:extLst>
          </p:cNvPr>
          <p:cNvSpPr/>
          <p:nvPr/>
        </p:nvSpPr>
        <p:spPr>
          <a:xfrm>
            <a:off x="10130970" y="2296983"/>
            <a:ext cx="3893948" cy="36356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rgbClr val="002060"/>
                </a:solidFill>
                <a:latin typeface="DM Sans" pitchFamily="2" charset="0"/>
              </a:rPr>
              <a:t>Lost customers: Mostly in Small group (drop of 11 of Small customers).</a:t>
            </a:r>
          </a:p>
          <a:p>
            <a:endParaRPr lang="en-US" dirty="0">
              <a:solidFill>
                <a:srgbClr val="002060"/>
              </a:solidFill>
              <a:latin typeface="DM Sans" pitchFamily="2" charset="0"/>
            </a:endParaRPr>
          </a:p>
          <a:p>
            <a:pPr marL="285750" indent="-285750">
              <a:buFont typeface="Arial" panose="020B0604020202020204" pitchFamily="34" charset="0"/>
              <a:buChar char="•"/>
            </a:pPr>
            <a:r>
              <a:rPr lang="en-US" dirty="0">
                <a:solidFill>
                  <a:srgbClr val="002060"/>
                </a:solidFill>
                <a:latin typeface="DM Sans" pitchFamily="2" charset="0"/>
              </a:rPr>
              <a:t>No new customer was recorded in 2020.</a:t>
            </a:r>
          </a:p>
          <a:p>
            <a:pPr marL="285750" indent="-285750">
              <a:buFont typeface="Arial" panose="020B0604020202020204" pitchFamily="34" charset="0"/>
              <a:buChar char="•"/>
            </a:pPr>
            <a:endParaRPr lang="en-US" dirty="0">
              <a:solidFill>
                <a:srgbClr val="002060"/>
              </a:solidFill>
              <a:latin typeface="DM Sans" pitchFamily="2" charset="0"/>
            </a:endParaRPr>
          </a:p>
          <a:p>
            <a:pPr marL="285750" indent="-285750">
              <a:buFont typeface="Arial" panose="020B0604020202020204" pitchFamily="34" charset="0"/>
              <a:buChar char="•"/>
            </a:pPr>
            <a:r>
              <a:rPr lang="en-US" dirty="0">
                <a:solidFill>
                  <a:srgbClr val="002060"/>
                </a:solidFill>
                <a:latin typeface="DM Sans" pitchFamily="2" charset="0"/>
              </a:rPr>
              <a:t>Retention of Small customers could improve profitability.</a:t>
            </a:r>
          </a:p>
        </p:txBody>
      </p:sp>
      <p:pic>
        <p:nvPicPr>
          <p:cNvPr id="10" name="Picture 9" descr="A graph with blue and white bars&#10;&#10;AI-generated content may be incorrect.">
            <a:extLst>
              <a:ext uri="{FF2B5EF4-FFF2-40B4-BE49-F238E27FC236}">
                <a16:creationId xmlns:a16="http://schemas.microsoft.com/office/drawing/2014/main" id="{6E8205D6-ACD4-1372-ECEB-78EA032ADD04}"/>
              </a:ext>
            </a:extLst>
          </p:cNvPr>
          <p:cNvPicPr>
            <a:picLocks noChangeAspect="1"/>
          </p:cNvPicPr>
          <p:nvPr/>
        </p:nvPicPr>
        <p:blipFill>
          <a:blip r:embed="rId2"/>
          <a:stretch>
            <a:fillRect/>
          </a:stretch>
        </p:blipFill>
        <p:spPr>
          <a:xfrm>
            <a:off x="243393" y="1322518"/>
            <a:ext cx="9887577" cy="5584564"/>
          </a:xfrm>
          <a:prstGeom prst="rect">
            <a:avLst/>
          </a:prstGeom>
        </p:spPr>
      </p:pic>
    </p:spTree>
    <p:extLst>
      <p:ext uri="{BB962C8B-B14F-4D97-AF65-F5344CB8AC3E}">
        <p14:creationId xmlns:p14="http://schemas.microsoft.com/office/powerpoint/2010/main" val="129507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2BB75F-5C47-FA61-8EDA-E0F235708F68}"/>
              </a:ext>
            </a:extLst>
          </p:cNvPr>
          <p:cNvSpPr txBox="1"/>
          <p:nvPr/>
        </p:nvSpPr>
        <p:spPr>
          <a:xfrm>
            <a:off x="324853" y="111499"/>
            <a:ext cx="9621394" cy="915635"/>
          </a:xfrm>
          <a:prstGeom prst="rect">
            <a:avLst/>
          </a:prstGeom>
          <a:noFill/>
        </p:spPr>
        <p:txBody>
          <a:bodyPr wrap="square" rtlCol="0">
            <a:spAutoFit/>
          </a:bodyPr>
          <a:lstStyle/>
          <a:p>
            <a:r>
              <a:rPr lang="en-US" sz="3550" b="1" dirty="0">
                <a:solidFill>
                  <a:srgbClr val="002060"/>
                </a:solidFill>
                <a:latin typeface="Libre Baskerville" pitchFamily="34" charset="0"/>
              </a:rPr>
              <a:t>Impact on Volume</a:t>
            </a:r>
          </a:p>
          <a:p>
            <a:endParaRPr lang="en-US" dirty="0"/>
          </a:p>
        </p:txBody>
      </p:sp>
      <p:sp>
        <p:nvSpPr>
          <p:cNvPr id="4" name="TextBox 3">
            <a:extLst>
              <a:ext uri="{FF2B5EF4-FFF2-40B4-BE49-F238E27FC236}">
                <a16:creationId xmlns:a16="http://schemas.microsoft.com/office/drawing/2014/main" id="{3617D66F-C199-4C5D-373E-BC922ECF37F9}"/>
              </a:ext>
            </a:extLst>
          </p:cNvPr>
          <p:cNvSpPr txBox="1"/>
          <p:nvPr/>
        </p:nvSpPr>
        <p:spPr>
          <a:xfrm>
            <a:off x="8487279" y="1027134"/>
            <a:ext cx="5629554" cy="6832640"/>
          </a:xfrm>
          <a:prstGeom prst="rect">
            <a:avLst/>
          </a:prstGeom>
          <a:noFill/>
        </p:spPr>
        <p:txBody>
          <a:bodyPr wrap="square" rtlCol="0">
            <a:spAutoFit/>
          </a:bodyPr>
          <a:lstStyle/>
          <a:p>
            <a:r>
              <a:rPr lang="en-US" sz="2000" dirty="0">
                <a:solidFill>
                  <a:srgbClr val="002060"/>
                </a:solidFill>
                <a:latin typeface="DM Sans" pitchFamily="2" charset="0"/>
              </a:rPr>
              <a:t> </a:t>
            </a:r>
            <a:r>
              <a:rPr lang="en-US" sz="2000" b="1" dirty="0">
                <a:solidFill>
                  <a:srgbClr val="002060"/>
                </a:solidFill>
                <a:latin typeface="DM Sans" pitchFamily="2" charset="0"/>
              </a:rPr>
              <a:t>Overall Performance</a:t>
            </a:r>
          </a:p>
          <a:p>
            <a:endParaRPr lang="en-US" sz="2000" b="1" dirty="0">
              <a:solidFill>
                <a:srgbClr val="002060"/>
              </a:solidFill>
              <a:latin typeface="DM Sans" pitchFamily="2" charset="0"/>
            </a:endParaRPr>
          </a:p>
          <a:p>
            <a:r>
              <a:rPr lang="en-US" sz="2000" dirty="0">
                <a:solidFill>
                  <a:srgbClr val="002060"/>
                </a:solidFill>
                <a:latin typeface="DM Sans" pitchFamily="2" charset="0"/>
              </a:rPr>
              <a:t>2020 Volume grew significantly above 2019 rate, confirming a pandemic-driven spike. Volume trend shows a drastic positive change after Week 11, coinciding with the WHO declaration and lockdowns.</a:t>
            </a:r>
          </a:p>
          <a:p>
            <a:endParaRPr lang="en-US" sz="2000" dirty="0">
              <a:solidFill>
                <a:srgbClr val="002060"/>
              </a:solidFill>
              <a:latin typeface="DM Sans" pitchFamily="2" charset="0"/>
            </a:endParaRPr>
          </a:p>
          <a:p>
            <a:r>
              <a:rPr lang="en-US" sz="2000" b="1" dirty="0">
                <a:solidFill>
                  <a:srgbClr val="002060"/>
                </a:solidFill>
                <a:latin typeface="DM Sans" pitchFamily="2" charset="0"/>
              </a:rPr>
              <a:t>Customer Base</a:t>
            </a:r>
          </a:p>
          <a:p>
            <a:r>
              <a:rPr lang="en-US" sz="2000" dirty="0">
                <a:solidFill>
                  <a:srgbClr val="002060"/>
                </a:solidFill>
                <a:latin typeface="DM Sans" pitchFamily="2" charset="0"/>
              </a:rPr>
              <a:t>Volume growth was primarily driven by high-value clients (Enterprise). Small customers were the source of volume decline, suffering a 20.81% decline in active accounts.</a:t>
            </a:r>
          </a:p>
          <a:p>
            <a:endParaRPr lang="en-US" sz="2000" dirty="0">
              <a:solidFill>
                <a:srgbClr val="002060"/>
              </a:solidFill>
              <a:latin typeface="DM Sans" pitchFamily="2" charset="0"/>
            </a:endParaRPr>
          </a:p>
          <a:p>
            <a:r>
              <a:rPr lang="en-US" sz="2000" b="1" dirty="0">
                <a:solidFill>
                  <a:srgbClr val="002060"/>
                </a:solidFill>
                <a:latin typeface="DM Sans" pitchFamily="2" charset="0"/>
              </a:rPr>
              <a:t> Strategy</a:t>
            </a:r>
          </a:p>
          <a:p>
            <a:r>
              <a:rPr lang="en-US" sz="2000" dirty="0">
                <a:solidFill>
                  <a:srgbClr val="002060"/>
                </a:solidFill>
                <a:latin typeface="DM Sans" pitchFamily="2" charset="0"/>
              </a:rPr>
              <a:t>The 2020 peak season exceeded 2019 volumes, confirming a record holiday surge. Operational planning must now account for the new, elevated peak volume baseline which would likely continue to an extent in 2021 due to change in customer shopping habit.</a:t>
            </a:r>
          </a:p>
          <a:p>
            <a:endParaRPr lang="en-US" dirty="0">
              <a:solidFill>
                <a:srgbClr val="002060"/>
              </a:solidFill>
              <a:latin typeface="DM Sans" pitchFamily="2" charset="0"/>
            </a:endParaRPr>
          </a:p>
        </p:txBody>
      </p:sp>
      <p:pic>
        <p:nvPicPr>
          <p:cNvPr id="8" name="Picture 7" descr="A graph of a customer group&#10;&#10;AI-generated content may be incorrect.">
            <a:extLst>
              <a:ext uri="{FF2B5EF4-FFF2-40B4-BE49-F238E27FC236}">
                <a16:creationId xmlns:a16="http://schemas.microsoft.com/office/drawing/2014/main" id="{434130AB-D674-A5A7-A87C-B726EB506341}"/>
              </a:ext>
            </a:extLst>
          </p:cNvPr>
          <p:cNvPicPr>
            <a:picLocks noChangeAspect="1"/>
          </p:cNvPicPr>
          <p:nvPr/>
        </p:nvPicPr>
        <p:blipFill>
          <a:blip r:embed="rId2"/>
          <a:stretch>
            <a:fillRect/>
          </a:stretch>
        </p:blipFill>
        <p:spPr>
          <a:xfrm>
            <a:off x="258499" y="1228647"/>
            <a:ext cx="8075660" cy="5015742"/>
          </a:xfrm>
          <a:prstGeom prst="rect">
            <a:avLst/>
          </a:prstGeom>
        </p:spPr>
      </p:pic>
    </p:spTree>
    <p:extLst>
      <p:ext uri="{BB962C8B-B14F-4D97-AF65-F5344CB8AC3E}">
        <p14:creationId xmlns:p14="http://schemas.microsoft.com/office/powerpoint/2010/main" val="1013740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bg1">
                <a:tint val="93000"/>
                <a:satMod val="150000"/>
                <a:shade val="98000"/>
                <a:lumMod val="102000"/>
              </a:schemeClr>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560739EC-C4FD-94CC-9164-AA6009C44F4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99BA9566-2D04-C18B-FC06-8F952203FFE8}"/>
              </a:ext>
            </a:extLst>
          </p:cNvPr>
          <p:cNvSpPr/>
          <p:nvPr/>
        </p:nvSpPr>
        <p:spPr>
          <a:xfrm>
            <a:off x="1272097" y="2120809"/>
            <a:ext cx="12392526" cy="199399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Libre Baskerville" pitchFamily="34" charset="0"/>
                <a:ea typeface="Libre Baskerville" pitchFamily="34" charset="-122"/>
                <a:cs typeface="Libre Baskerville" pitchFamily="34" charset="-120"/>
              </a:rPr>
              <a:t>Thank You</a:t>
            </a:r>
            <a:endParaRPr kumimoji="0" lang="en-US" sz="72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8F02833-2BEB-F15A-3A53-2D16A4AF2A4F}"/>
              </a:ext>
            </a:extLst>
          </p:cNvPr>
          <p:cNvPicPr>
            <a:picLocks noChangeAspect="1"/>
          </p:cNvPicPr>
          <p:nvPr/>
        </p:nvPicPr>
        <p:blipFill>
          <a:blip r:embed="rId3"/>
          <a:stretch>
            <a:fillRect/>
          </a:stretch>
        </p:blipFill>
        <p:spPr>
          <a:xfrm>
            <a:off x="233129" y="5422992"/>
            <a:ext cx="6729905" cy="2550694"/>
          </a:xfrm>
          <a:prstGeom prst="rect">
            <a:avLst/>
          </a:prstGeom>
        </p:spPr>
      </p:pic>
    </p:spTree>
    <p:extLst>
      <p:ext uri="{BB962C8B-B14F-4D97-AF65-F5344CB8AC3E}">
        <p14:creationId xmlns:p14="http://schemas.microsoft.com/office/powerpoint/2010/main" val="2184624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bg1">
                <a:tint val="93000"/>
                <a:satMod val="150000"/>
                <a:shade val="98000"/>
                <a:lumMod val="102000"/>
              </a:schemeClr>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4506AB94-4AD4-CFB4-0A7F-5DEA48DB174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E066BBA-E681-1F54-9CCD-73761B0B6CF7}"/>
              </a:ext>
            </a:extLst>
          </p:cNvPr>
          <p:cNvSpPr/>
          <p:nvPr/>
        </p:nvSpPr>
        <p:spPr>
          <a:xfrm>
            <a:off x="562234" y="3564599"/>
            <a:ext cx="12392526" cy="199399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Libre Baskerville" pitchFamily="34" charset="0"/>
                <a:ea typeface="Libre Baskerville" pitchFamily="34" charset="-122"/>
                <a:cs typeface="Libre Baskerville" pitchFamily="34" charset="-120"/>
              </a:rPr>
              <a:t>Appendix </a:t>
            </a:r>
            <a:endParaRPr kumimoji="0" lang="en-US" sz="72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8644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FFAC44-E175-CB24-7ADA-51B41A603335}"/>
              </a:ext>
            </a:extLst>
          </p:cNvPr>
          <p:cNvSpPr txBox="1"/>
          <p:nvPr/>
        </p:nvSpPr>
        <p:spPr>
          <a:xfrm>
            <a:off x="9685421" y="2560111"/>
            <a:ext cx="4704346" cy="1323439"/>
          </a:xfrm>
          <a:prstGeom prst="rect">
            <a:avLst/>
          </a:prstGeom>
          <a:noFill/>
        </p:spPr>
        <p:txBody>
          <a:bodyPr wrap="square" rtlCol="0">
            <a:spAutoFit/>
          </a:bodyPr>
          <a:lstStyle/>
          <a:p>
            <a:r>
              <a:rPr lang="en-US" sz="2000" b="1" dirty="0">
                <a:solidFill>
                  <a:srgbClr val="002060"/>
                </a:solidFill>
                <a:latin typeface="DM Sans" pitchFamily="2" charset="0"/>
              </a:rPr>
              <a:t>Overall Performance</a:t>
            </a:r>
          </a:p>
          <a:p>
            <a:r>
              <a:rPr lang="en-US" sz="2000" dirty="0">
                <a:solidFill>
                  <a:srgbClr val="002060"/>
                </a:solidFill>
                <a:latin typeface="DM Sans" pitchFamily="2" charset="0"/>
              </a:rPr>
              <a:t>Revenue grew significantly above the normal rate, aligning with the volume spike. </a:t>
            </a:r>
          </a:p>
        </p:txBody>
      </p:sp>
      <p:sp>
        <p:nvSpPr>
          <p:cNvPr id="2" name="TextBox 1">
            <a:extLst>
              <a:ext uri="{FF2B5EF4-FFF2-40B4-BE49-F238E27FC236}">
                <a16:creationId xmlns:a16="http://schemas.microsoft.com/office/drawing/2014/main" id="{7159A5AB-C005-7FB3-0F1B-AFA22BD83319}"/>
              </a:ext>
            </a:extLst>
          </p:cNvPr>
          <p:cNvSpPr txBox="1"/>
          <p:nvPr/>
        </p:nvSpPr>
        <p:spPr>
          <a:xfrm>
            <a:off x="421107" y="425006"/>
            <a:ext cx="4870244" cy="638636"/>
          </a:xfrm>
          <a:prstGeom prst="rect">
            <a:avLst/>
          </a:prstGeom>
          <a:noFill/>
        </p:spPr>
        <p:txBody>
          <a:bodyPr wrap="square" rtlCol="0">
            <a:spAutoFit/>
          </a:bodyPr>
          <a:lstStyle/>
          <a:p>
            <a:r>
              <a:rPr lang="en-US" sz="3550" b="1" dirty="0">
                <a:solidFill>
                  <a:srgbClr val="002060"/>
                </a:solidFill>
                <a:latin typeface="Libre Baskerville" pitchFamily="34" charset="0"/>
              </a:rPr>
              <a:t>Impact on Revenue</a:t>
            </a:r>
          </a:p>
        </p:txBody>
      </p:sp>
      <p:pic>
        <p:nvPicPr>
          <p:cNvPr id="10" name="Picture 9" descr="A graph of a bar chart&#10;&#10;AI-generated content may be incorrect.">
            <a:extLst>
              <a:ext uri="{FF2B5EF4-FFF2-40B4-BE49-F238E27FC236}">
                <a16:creationId xmlns:a16="http://schemas.microsoft.com/office/drawing/2014/main" id="{BF3AEFC7-EC63-4EF7-1946-C9EFCF7C5EA8}"/>
              </a:ext>
            </a:extLst>
          </p:cNvPr>
          <p:cNvPicPr>
            <a:picLocks noChangeAspect="1"/>
          </p:cNvPicPr>
          <p:nvPr/>
        </p:nvPicPr>
        <p:blipFill>
          <a:blip r:embed="rId2"/>
          <a:stretch>
            <a:fillRect/>
          </a:stretch>
        </p:blipFill>
        <p:spPr>
          <a:xfrm>
            <a:off x="421107" y="1658301"/>
            <a:ext cx="9264314" cy="5144564"/>
          </a:xfrm>
          <a:prstGeom prst="rect">
            <a:avLst/>
          </a:prstGeom>
        </p:spPr>
      </p:pic>
    </p:spTree>
    <p:extLst>
      <p:ext uri="{BB962C8B-B14F-4D97-AF65-F5344CB8AC3E}">
        <p14:creationId xmlns:p14="http://schemas.microsoft.com/office/powerpoint/2010/main" val="397055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F7DAC9-BC6D-6218-FE8C-E34D8F0F02C9}"/>
            </a:ext>
          </a:extLst>
        </p:cNvPr>
        <p:cNvGrpSpPr/>
        <p:nvPr/>
      </p:nvGrpSpPr>
      <p:grpSpPr>
        <a:xfrm>
          <a:off x="0" y="0"/>
          <a:ext cx="0" cy="0"/>
          <a:chOff x="0" y="0"/>
          <a:chExt cx="0" cy="0"/>
        </a:xfrm>
      </p:grpSpPr>
      <p:pic>
        <p:nvPicPr>
          <p:cNvPr id="3" name="Picture 2" descr="A graph of blue and orange bars&#10;&#10;AI-generated content may be incorrect.">
            <a:extLst>
              <a:ext uri="{FF2B5EF4-FFF2-40B4-BE49-F238E27FC236}">
                <a16:creationId xmlns:a16="http://schemas.microsoft.com/office/drawing/2014/main" id="{D65ED109-D7D7-0F3A-A048-05B98D5EE303}"/>
              </a:ext>
            </a:extLst>
          </p:cNvPr>
          <p:cNvPicPr>
            <a:picLocks noChangeAspect="1"/>
          </p:cNvPicPr>
          <p:nvPr/>
        </p:nvPicPr>
        <p:blipFill>
          <a:blip r:embed="rId2"/>
          <a:stretch>
            <a:fillRect/>
          </a:stretch>
        </p:blipFill>
        <p:spPr>
          <a:xfrm>
            <a:off x="814192" y="1014609"/>
            <a:ext cx="12641481" cy="5022936"/>
          </a:xfrm>
          <a:prstGeom prst="rect">
            <a:avLst/>
          </a:prstGeom>
        </p:spPr>
      </p:pic>
      <p:sp>
        <p:nvSpPr>
          <p:cNvPr id="4" name="TextBox 3">
            <a:extLst>
              <a:ext uri="{FF2B5EF4-FFF2-40B4-BE49-F238E27FC236}">
                <a16:creationId xmlns:a16="http://schemas.microsoft.com/office/drawing/2014/main" id="{24995259-8878-7C8B-2212-B880BDA7F3A1}"/>
              </a:ext>
            </a:extLst>
          </p:cNvPr>
          <p:cNvSpPr txBox="1"/>
          <p:nvPr/>
        </p:nvSpPr>
        <p:spPr>
          <a:xfrm>
            <a:off x="313151" y="6309434"/>
            <a:ext cx="14112288" cy="1323439"/>
          </a:xfrm>
          <a:prstGeom prst="rect">
            <a:avLst/>
          </a:prstGeom>
          <a:noFill/>
        </p:spPr>
        <p:txBody>
          <a:bodyPr wrap="square" rtlCol="0">
            <a:spAutoFit/>
          </a:bodyPr>
          <a:lstStyle/>
          <a:p>
            <a:r>
              <a:rPr lang="en-US" sz="2000" b="1" dirty="0">
                <a:solidFill>
                  <a:srgbClr val="002060"/>
                </a:solidFill>
                <a:latin typeface="DM Sans" pitchFamily="2" charset="0"/>
              </a:rPr>
              <a:t>2020 Volume Surge</a:t>
            </a:r>
            <a:r>
              <a:rPr lang="en-US" sz="2000" dirty="0">
                <a:solidFill>
                  <a:srgbClr val="002060"/>
                </a:solidFill>
                <a:latin typeface="DM Sans" pitchFamily="2" charset="0"/>
              </a:rPr>
              <a:t>: 2020 volumes were consistently higher than 2019, confirming that COVID-19 significantly increased peak season parcel demand.</a:t>
            </a:r>
          </a:p>
          <a:p>
            <a:r>
              <a:rPr lang="en-US" sz="2000" b="1" dirty="0">
                <a:solidFill>
                  <a:srgbClr val="002060"/>
                </a:solidFill>
                <a:latin typeface="DM Sans" pitchFamily="2" charset="0"/>
              </a:rPr>
              <a:t>Strategic Insight</a:t>
            </a:r>
            <a:r>
              <a:rPr lang="en-US" sz="2000" dirty="0">
                <a:solidFill>
                  <a:srgbClr val="002060"/>
                </a:solidFill>
                <a:latin typeface="DM Sans" pitchFamily="2" charset="0"/>
              </a:rPr>
              <a:t>: ABC should expect a higher baseline post-pandemic due to accelerated customer habit formation (Shift to online shopping) </a:t>
            </a:r>
          </a:p>
        </p:txBody>
      </p:sp>
      <p:sp>
        <p:nvSpPr>
          <p:cNvPr id="2" name="TextBox 1">
            <a:extLst>
              <a:ext uri="{FF2B5EF4-FFF2-40B4-BE49-F238E27FC236}">
                <a16:creationId xmlns:a16="http://schemas.microsoft.com/office/drawing/2014/main" id="{D8832306-7C6E-F650-F752-4CC2180050BD}"/>
              </a:ext>
            </a:extLst>
          </p:cNvPr>
          <p:cNvSpPr txBox="1"/>
          <p:nvPr/>
        </p:nvSpPr>
        <p:spPr>
          <a:xfrm>
            <a:off x="684042" y="277409"/>
            <a:ext cx="10059164" cy="638636"/>
          </a:xfrm>
          <a:prstGeom prst="rect">
            <a:avLst/>
          </a:prstGeom>
          <a:noFill/>
        </p:spPr>
        <p:txBody>
          <a:bodyPr wrap="none" rtlCol="0">
            <a:spAutoFit/>
          </a:bodyPr>
          <a:lstStyle/>
          <a:p>
            <a:r>
              <a:rPr lang="en-US" sz="3550" b="1" dirty="0">
                <a:solidFill>
                  <a:srgbClr val="002060"/>
                </a:solidFill>
                <a:latin typeface="Libre Baskerville" pitchFamily="34" charset="0"/>
              </a:rPr>
              <a:t>COVID-19’s Impact on 2020 Peak Season</a:t>
            </a:r>
          </a:p>
        </p:txBody>
      </p:sp>
    </p:spTree>
    <p:extLst>
      <p:ext uri="{BB962C8B-B14F-4D97-AF65-F5344CB8AC3E}">
        <p14:creationId xmlns:p14="http://schemas.microsoft.com/office/powerpoint/2010/main" val="4038750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0E51ED-40D4-12C4-31B5-3D9578A51C8F}"/>
              </a:ext>
            </a:extLst>
          </p:cNvPr>
          <p:cNvSpPr txBox="1"/>
          <p:nvPr/>
        </p:nvSpPr>
        <p:spPr>
          <a:xfrm>
            <a:off x="261108" y="5654645"/>
            <a:ext cx="13972250" cy="2246769"/>
          </a:xfrm>
          <a:prstGeom prst="rect">
            <a:avLst/>
          </a:prstGeom>
          <a:noFill/>
        </p:spPr>
        <p:txBody>
          <a:bodyPr wrap="square" rtlCol="0">
            <a:spAutoFit/>
          </a:bodyPr>
          <a:lstStyle/>
          <a:p>
            <a:r>
              <a:rPr lang="en-US" sz="2000" b="1" dirty="0">
                <a:solidFill>
                  <a:srgbClr val="002060"/>
                </a:solidFill>
                <a:latin typeface="DM Sans" pitchFamily="2" charset="0"/>
              </a:rPr>
              <a:t>Small Customers</a:t>
            </a:r>
            <a:r>
              <a:rPr lang="en-US" sz="2000" dirty="0">
                <a:solidFill>
                  <a:srgbClr val="002060"/>
                </a:solidFill>
                <a:latin typeface="DM Sans" pitchFamily="2" charset="0"/>
              </a:rPr>
              <a:t>: Experienced a substantial decline (-15.96%), suggesting they were disproportionately impacted by the pandemic (closures/consolidation).</a:t>
            </a:r>
          </a:p>
          <a:p>
            <a:r>
              <a:rPr lang="en-US" sz="2000" b="1" dirty="0">
                <a:solidFill>
                  <a:srgbClr val="002060"/>
                </a:solidFill>
                <a:latin typeface="DM Sans" pitchFamily="2" charset="0"/>
              </a:rPr>
              <a:t>Medium Customers</a:t>
            </a:r>
            <a:r>
              <a:rPr lang="en-US" sz="2000" dirty="0">
                <a:solidFill>
                  <a:srgbClr val="002060"/>
                </a:solidFill>
                <a:latin typeface="DM Sans" pitchFamily="2" charset="0"/>
              </a:rPr>
              <a:t>: showed significant growth (+6%).</a:t>
            </a:r>
          </a:p>
          <a:p>
            <a:r>
              <a:rPr lang="en-US" sz="2000" b="1" dirty="0">
                <a:solidFill>
                  <a:srgbClr val="002060"/>
                </a:solidFill>
                <a:latin typeface="DM Sans" pitchFamily="2" charset="0"/>
              </a:rPr>
              <a:t>Large Customers</a:t>
            </a:r>
            <a:r>
              <a:rPr lang="en-US" sz="2000" dirty="0">
                <a:solidFill>
                  <a:srgbClr val="002060"/>
                </a:solidFill>
                <a:latin typeface="DM Sans" pitchFamily="2" charset="0"/>
              </a:rPr>
              <a:t>: the highest percentage growth (+0.67%), confirming volume acquisition in the higher-tier segments.</a:t>
            </a:r>
          </a:p>
          <a:p>
            <a:r>
              <a:rPr lang="en-US" sz="2000" dirty="0">
                <a:solidFill>
                  <a:srgbClr val="002060"/>
                </a:solidFill>
                <a:latin typeface="DM Sans" pitchFamily="2" charset="0"/>
              </a:rPr>
              <a:t>A new segment of customer emerged in 2020 which we categorized as others. They had volumes lower than 1k and they contributed 9.1% of 2020 volumes.</a:t>
            </a:r>
          </a:p>
        </p:txBody>
      </p:sp>
      <p:sp>
        <p:nvSpPr>
          <p:cNvPr id="2" name="TextBox 1">
            <a:extLst>
              <a:ext uri="{FF2B5EF4-FFF2-40B4-BE49-F238E27FC236}">
                <a16:creationId xmlns:a16="http://schemas.microsoft.com/office/drawing/2014/main" id="{02E72C60-E9CB-362B-BB50-BF13500114A3}"/>
              </a:ext>
            </a:extLst>
          </p:cNvPr>
          <p:cNvSpPr txBox="1"/>
          <p:nvPr/>
        </p:nvSpPr>
        <p:spPr>
          <a:xfrm>
            <a:off x="349984" y="161372"/>
            <a:ext cx="12181540" cy="638636"/>
          </a:xfrm>
          <a:prstGeom prst="rect">
            <a:avLst/>
          </a:prstGeom>
          <a:noFill/>
        </p:spPr>
        <p:txBody>
          <a:bodyPr wrap="none" rtlCol="0">
            <a:spAutoFit/>
          </a:bodyPr>
          <a:lstStyle/>
          <a:p>
            <a:r>
              <a:rPr lang="en-US" sz="3550" b="1" dirty="0">
                <a:solidFill>
                  <a:srgbClr val="002060"/>
                </a:solidFill>
                <a:latin typeface="Libre Baskerville" pitchFamily="34" charset="0"/>
              </a:rPr>
              <a:t>Pandemic Effects Across Customer Segments (1/2)</a:t>
            </a:r>
          </a:p>
        </p:txBody>
      </p:sp>
      <p:pic>
        <p:nvPicPr>
          <p:cNvPr id="10" name="Picture 9" descr="A pie chart with numbers and a number of percentages&#10;&#10;AI-generated content may be incorrect.">
            <a:extLst>
              <a:ext uri="{FF2B5EF4-FFF2-40B4-BE49-F238E27FC236}">
                <a16:creationId xmlns:a16="http://schemas.microsoft.com/office/drawing/2014/main" id="{A1D69358-C36D-4B8D-77A3-C2116FFA4AB3}"/>
              </a:ext>
            </a:extLst>
          </p:cNvPr>
          <p:cNvPicPr>
            <a:picLocks noChangeAspect="1"/>
          </p:cNvPicPr>
          <p:nvPr/>
        </p:nvPicPr>
        <p:blipFill>
          <a:blip r:embed="rId2"/>
          <a:stretch>
            <a:fillRect/>
          </a:stretch>
        </p:blipFill>
        <p:spPr>
          <a:xfrm>
            <a:off x="6460958" y="957444"/>
            <a:ext cx="8073189" cy="4576702"/>
          </a:xfrm>
          <a:prstGeom prst="rect">
            <a:avLst/>
          </a:prstGeom>
        </p:spPr>
      </p:pic>
      <p:pic>
        <p:nvPicPr>
          <p:cNvPr id="14" name="Picture 13" descr="A pie chart with numbers and a number of percentages&#10;&#10;AI-generated content may be incorrect.">
            <a:extLst>
              <a:ext uri="{FF2B5EF4-FFF2-40B4-BE49-F238E27FC236}">
                <a16:creationId xmlns:a16="http://schemas.microsoft.com/office/drawing/2014/main" id="{DFA64C60-AFE2-F994-D3C4-D35BE61BD365}"/>
              </a:ext>
            </a:extLst>
          </p:cNvPr>
          <p:cNvPicPr>
            <a:picLocks noChangeAspect="1"/>
          </p:cNvPicPr>
          <p:nvPr/>
        </p:nvPicPr>
        <p:blipFill>
          <a:blip r:embed="rId3"/>
          <a:stretch>
            <a:fillRect/>
          </a:stretch>
        </p:blipFill>
        <p:spPr>
          <a:xfrm>
            <a:off x="261108" y="920507"/>
            <a:ext cx="6217087" cy="4553917"/>
          </a:xfrm>
          <a:prstGeom prst="rect">
            <a:avLst/>
          </a:prstGeom>
        </p:spPr>
      </p:pic>
    </p:spTree>
    <p:extLst>
      <p:ext uri="{BB962C8B-B14F-4D97-AF65-F5344CB8AC3E}">
        <p14:creationId xmlns:p14="http://schemas.microsoft.com/office/powerpoint/2010/main" val="2952070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9A73FF4F-804C-EDA5-B1C3-BDA4EFCB2866}"/>
              </a:ext>
            </a:extLst>
          </p:cNvPr>
          <p:cNvPicPr>
            <a:picLocks noChangeAspect="1"/>
          </p:cNvPicPr>
          <p:nvPr/>
        </p:nvPicPr>
        <p:blipFill>
          <a:blip r:embed="rId2"/>
          <a:stretch>
            <a:fillRect/>
          </a:stretch>
        </p:blipFill>
        <p:spPr>
          <a:xfrm>
            <a:off x="273451" y="168442"/>
            <a:ext cx="14233779" cy="7976937"/>
          </a:xfrm>
          <a:prstGeom prst="rect">
            <a:avLst/>
          </a:prstGeom>
        </p:spPr>
      </p:pic>
    </p:spTree>
    <p:extLst>
      <p:ext uri="{BB962C8B-B14F-4D97-AF65-F5344CB8AC3E}">
        <p14:creationId xmlns:p14="http://schemas.microsoft.com/office/powerpoint/2010/main" val="2086708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graph&#10;&#10;AI-generated content may be incorrect.">
            <a:extLst>
              <a:ext uri="{FF2B5EF4-FFF2-40B4-BE49-F238E27FC236}">
                <a16:creationId xmlns:a16="http://schemas.microsoft.com/office/drawing/2014/main" id="{D26ABEB1-F9D1-6C7A-ED62-0A08843D7C9D}"/>
              </a:ext>
            </a:extLst>
          </p:cNvPr>
          <p:cNvPicPr>
            <a:picLocks noChangeAspect="1"/>
          </p:cNvPicPr>
          <p:nvPr/>
        </p:nvPicPr>
        <p:blipFill>
          <a:blip r:embed="rId2"/>
          <a:stretch>
            <a:fillRect/>
          </a:stretch>
        </p:blipFill>
        <p:spPr>
          <a:xfrm>
            <a:off x="0" y="127814"/>
            <a:ext cx="14630400" cy="8175812"/>
          </a:xfrm>
          <a:prstGeom prst="rect">
            <a:avLst/>
          </a:prstGeom>
        </p:spPr>
      </p:pic>
    </p:spTree>
    <p:extLst>
      <p:ext uri="{BB962C8B-B14F-4D97-AF65-F5344CB8AC3E}">
        <p14:creationId xmlns:p14="http://schemas.microsoft.com/office/powerpoint/2010/main" val="2468848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4134</TotalTime>
  <Words>1373</Words>
  <Application>Microsoft Office PowerPoint</Application>
  <PresentationFormat>Custom</PresentationFormat>
  <Paragraphs>180</Paragraphs>
  <Slides>20</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Libre Baskerville</vt:lpstr>
      <vt:lpstr>Calibri</vt:lpstr>
      <vt:lpstr>Arial</vt:lpstr>
      <vt:lpstr>DM Sans</vt:lpstr>
      <vt:lpstr>Office Theme</vt:lpstr>
      <vt:lpstr>5_Office Theme</vt:lpstr>
      <vt:lpstr>PowerPoint Presentation</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lastModifiedBy>George, Evelyn</cp:lastModifiedBy>
  <cp:revision>21</cp:revision>
  <dcterms:created xsi:type="dcterms:W3CDTF">2025-12-09T02:17:07Z</dcterms:created>
  <dcterms:modified xsi:type="dcterms:W3CDTF">2025-12-12T22:20:24Z</dcterms:modified>
</cp:coreProperties>
</file>